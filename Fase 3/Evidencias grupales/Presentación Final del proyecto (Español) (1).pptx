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ublic Sans Medium" charset="1" panose="00000000000000000000"/>
      <p:regular r:id="rId25"/>
    </p:embeddedFont>
    <p:embeddedFont>
      <p:font typeface="Public Sans Bold" charset="1" panose="00000000000000000000"/>
      <p:regular r:id="rId26"/>
    </p:embeddedFont>
    <p:embeddedFont>
      <p:font typeface="Public Sans" charset="1" panose="00000000000000000000"/>
      <p:regular r:id="rId27"/>
    </p:embeddedFont>
    <p:embeddedFont>
      <p:font typeface="Open Sans 1 Bold" charset="1" panose="020B0806030504020204"/>
      <p:regular r:id="rId28"/>
    </p:embeddedFont>
    <p:embeddedFont>
      <p:font typeface="Open Sans 2 Bold" charset="1" panose="00000000000000000000"/>
      <p:regular r:id="rId29"/>
    </p:embeddedFont>
    <p:embeddedFont>
      <p:font typeface="Open Sans 1" charset="1" panose="020B0606030504020204"/>
      <p:regular r:id="rId30"/>
    </p:embeddedFont>
    <p:embeddedFont>
      <p:font typeface="Open Sans 2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4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3208" y="4862154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9181" y="3898348"/>
            <a:ext cx="5050543" cy="1550789"/>
          </a:xfrm>
          <a:custGeom>
            <a:avLst/>
            <a:gdLst/>
            <a:ahLst/>
            <a:cxnLst/>
            <a:rect r="r" b="b" t="t" l="l"/>
            <a:pathLst>
              <a:path h="1550789" w="5050543">
                <a:moveTo>
                  <a:pt x="0" y="0"/>
                </a:moveTo>
                <a:lnTo>
                  <a:pt x="5050542" y="0"/>
                </a:lnTo>
                <a:lnTo>
                  <a:pt x="5050542" y="1550789"/>
                </a:lnTo>
                <a:lnTo>
                  <a:pt x="0" y="1550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05" t="-136567" r="-50521" b="-1427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07352" y="4199688"/>
            <a:ext cx="5371829" cy="124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6064" y="6070166"/>
            <a:ext cx="602516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PRESENTACION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0291" y="-1435764"/>
            <a:ext cx="5482615" cy="4231373"/>
            <a:chOff x="0" y="0"/>
            <a:chExt cx="905432" cy="69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2"/>
              <a:stretch>
                <a:fillRect l="-17658" t="0" r="-17658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-70012" y="3121203"/>
            <a:ext cx="18428024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2581095" y="-12217"/>
            <a:ext cx="8703161" cy="8710420"/>
          </a:xfrm>
          <a:custGeom>
            <a:avLst/>
            <a:gdLst/>
            <a:ahLst/>
            <a:cxnLst/>
            <a:rect r="r" b="b" t="t" l="l"/>
            <a:pathLst>
              <a:path h="8710420" w="8703161">
                <a:moveTo>
                  <a:pt x="0" y="0"/>
                </a:moveTo>
                <a:lnTo>
                  <a:pt x="8703162" y="0"/>
                </a:lnTo>
                <a:lnTo>
                  <a:pt x="8703162" y="8710420"/>
                </a:lnTo>
                <a:lnTo>
                  <a:pt x="0" y="8710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1860674"/>
            <a:ext cx="185737" cy="1857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4813810"/>
            <a:ext cx="185737" cy="1857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686987" y="1963706"/>
            <a:ext cx="3285500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índice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644" y="3781214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Integrantes del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535" y="3177651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644" y="4778278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Problematica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535" y="419560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644" y="5842792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9535" y="524271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644" y="6909451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Objectivos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9535" y="633745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1644" y="7937022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Alcance del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9535" y="743219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21940" y="3776475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Limitaciones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9831" y="317291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21940" y="4773538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Metodologías aplicadas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9831" y="4190863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21940" y="5838053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Cronograma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89831" y="5237978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69160" y="6680488"/>
            <a:ext cx="3935418" cy="92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Tecnologias y herramientas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89831" y="646128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21940" y="7932283"/>
            <a:ext cx="3935418" cy="92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Modelo de base de datos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89831" y="7465558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689" y="3852675"/>
            <a:ext cx="4669832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Flujo de caja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57359" y="3264864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15689" y="4828329"/>
            <a:ext cx="4415342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Presentación del programa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57359" y="4282815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15689" y="5780585"/>
            <a:ext cx="3935418" cy="4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Futuras mejoras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57359" y="5329930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15689" y="6911938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Preguntas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57359" y="646128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1926" y="7012580"/>
            <a:ext cx="5859471" cy="2162678"/>
          </a:xfrm>
          <a:custGeom>
            <a:avLst/>
            <a:gdLst/>
            <a:ahLst/>
            <a:cxnLst/>
            <a:rect r="r" b="b" t="t" l="l"/>
            <a:pathLst>
              <a:path h="2162678" w="5859471">
                <a:moveTo>
                  <a:pt x="0" y="0"/>
                </a:moveTo>
                <a:lnTo>
                  <a:pt x="5859471" y="0"/>
                </a:lnTo>
                <a:lnTo>
                  <a:pt x="5859471" y="2162678"/>
                </a:lnTo>
                <a:lnTo>
                  <a:pt x="0" y="216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74129"/>
            <a:ext cx="6552222" cy="192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8000" spc="-64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ntegrantes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63666" y="3120580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JEFE DE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63666" y="3548251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EDISON PARDO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3666" y="5118626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RENATO CHICAHUAL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63666" y="4691516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SCRUM MASTER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47625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363666" y="6773320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ALEXIS GONZÁLEZ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63666" y="6346210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DESARROLLADOR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63666" y="8390178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DIEGO ACEVEDO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3666" y="7963068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QA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66797" y="-1294609"/>
            <a:ext cx="4839189" cy="5138135"/>
          </a:xfrm>
          <a:custGeom>
            <a:avLst/>
            <a:gdLst/>
            <a:ahLst/>
            <a:cxnLst/>
            <a:rect r="r" b="b" t="t" l="l"/>
            <a:pathLst>
              <a:path h="5138135" w="4839189">
                <a:moveTo>
                  <a:pt x="0" y="0"/>
                </a:moveTo>
                <a:lnTo>
                  <a:pt x="4839188" y="0"/>
                </a:lnTo>
                <a:lnTo>
                  <a:pt x="4839188" y="5138135"/>
                </a:lnTo>
                <a:lnTo>
                  <a:pt x="0" y="5138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6760" y="8686339"/>
            <a:ext cx="4755052" cy="5048801"/>
          </a:xfrm>
          <a:custGeom>
            <a:avLst/>
            <a:gdLst/>
            <a:ahLst/>
            <a:cxnLst/>
            <a:rect r="r" b="b" t="t" l="l"/>
            <a:pathLst>
              <a:path h="5048801" w="4755052">
                <a:moveTo>
                  <a:pt x="0" y="0"/>
                </a:moveTo>
                <a:lnTo>
                  <a:pt x="4755052" y="0"/>
                </a:lnTo>
                <a:lnTo>
                  <a:pt x="4755052" y="5048801"/>
                </a:lnTo>
                <a:lnTo>
                  <a:pt x="0" y="504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6121" y="2679789"/>
            <a:ext cx="9716331" cy="6818619"/>
            <a:chOff x="0" y="0"/>
            <a:chExt cx="1117832" cy="784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7832" cy="784460"/>
            </a:xfrm>
            <a:custGeom>
              <a:avLst/>
              <a:gdLst/>
              <a:ahLst/>
              <a:cxnLst/>
              <a:rect r="r" b="b" t="t" l="l"/>
              <a:pathLst>
                <a:path h="784460" w="1117832">
                  <a:moveTo>
                    <a:pt x="18326" y="0"/>
                  </a:moveTo>
                  <a:lnTo>
                    <a:pt x="1099506" y="0"/>
                  </a:lnTo>
                  <a:cubicBezTo>
                    <a:pt x="1104366" y="0"/>
                    <a:pt x="1109028" y="1931"/>
                    <a:pt x="1112464" y="5368"/>
                  </a:cubicBezTo>
                  <a:cubicBezTo>
                    <a:pt x="1115901" y="8804"/>
                    <a:pt x="1117832" y="13466"/>
                    <a:pt x="1117832" y="18326"/>
                  </a:cubicBezTo>
                  <a:lnTo>
                    <a:pt x="1117832" y="766134"/>
                  </a:lnTo>
                  <a:cubicBezTo>
                    <a:pt x="1117832" y="770994"/>
                    <a:pt x="1115901" y="775655"/>
                    <a:pt x="1112464" y="779092"/>
                  </a:cubicBezTo>
                  <a:cubicBezTo>
                    <a:pt x="1109028" y="782529"/>
                    <a:pt x="1104366" y="784460"/>
                    <a:pt x="1099506" y="784460"/>
                  </a:cubicBezTo>
                  <a:lnTo>
                    <a:pt x="18326" y="784460"/>
                  </a:lnTo>
                  <a:cubicBezTo>
                    <a:pt x="8205" y="784460"/>
                    <a:pt x="0" y="776255"/>
                    <a:pt x="0" y="766134"/>
                  </a:cubicBezTo>
                  <a:lnTo>
                    <a:pt x="0" y="18326"/>
                  </a:lnTo>
                  <a:cubicBezTo>
                    <a:pt x="0" y="13466"/>
                    <a:pt x="1931" y="8804"/>
                    <a:pt x="5368" y="5368"/>
                  </a:cubicBezTo>
                  <a:cubicBezTo>
                    <a:pt x="8804" y="1931"/>
                    <a:pt x="13466" y="0"/>
                    <a:pt x="183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759" r="0" b="-975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43589" y="-41478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96025" y="1520674"/>
            <a:ext cx="5736522" cy="100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00BB13"/>
                </a:solidFill>
                <a:latin typeface="Public Sans"/>
                <a:ea typeface="Public Sans"/>
                <a:cs typeface="Public Sans"/>
                <a:sym typeface="Public Sans"/>
              </a:rPr>
              <a:t>Problemática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52072" y="4076832"/>
            <a:ext cx="7446222" cy="460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  <a:spcBef>
                <a:spcPct val="0"/>
              </a:spcBef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Actualmente, muchas Pymes, startups, estudiantes y equipos educativos enfrentan dificultades para gestionar proyectos de manera eficiente debido a:</a:t>
            </a:r>
          </a:p>
          <a:p>
            <a:pPr algn="l">
              <a:lnSpc>
                <a:spcPts val="2833"/>
              </a:lnSpc>
              <a:spcBef>
                <a:spcPct val="0"/>
              </a:spcBef>
            </a:pP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Herramientas costosas: Plataformas como Jira o Notion u otros, tienen planes premium inaccesibles para pequeños presupuestos.</a:t>
            </a:r>
          </a:p>
          <a:p>
            <a:pPr algn="l">
              <a:lnSpc>
                <a:spcPts val="2833"/>
              </a:lnSpc>
            </a:pP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Complejidad: Interfaces sobrecargadas que requieren capacitación prolongada.</a:t>
            </a:r>
          </a:p>
          <a:p>
            <a:pPr algn="l">
              <a:lnSpc>
                <a:spcPts val="2833"/>
              </a:lnSpc>
            </a:pP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Falta de automatización: Las tareas repetitivas (documentación, descripciones) consumen tiempo valioso.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870776" y="-1551584"/>
            <a:ext cx="5482615" cy="4231373"/>
            <a:chOff x="0" y="0"/>
            <a:chExt cx="905432" cy="69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443846" y="0"/>
            <a:ext cx="7844154" cy="7850697"/>
          </a:xfrm>
          <a:custGeom>
            <a:avLst/>
            <a:gdLst/>
            <a:ahLst/>
            <a:cxnLst/>
            <a:rect r="r" b="b" t="t" l="l"/>
            <a:pathLst>
              <a:path h="7850697" w="7844154">
                <a:moveTo>
                  <a:pt x="0" y="0"/>
                </a:moveTo>
                <a:lnTo>
                  <a:pt x="7844154" y="0"/>
                </a:lnTo>
                <a:lnTo>
                  <a:pt x="7844154" y="7850697"/>
                </a:lnTo>
                <a:lnTo>
                  <a:pt x="0" y="7850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54668" y="1794822"/>
            <a:ext cx="8887591" cy="5456315"/>
            <a:chOff x="0" y="0"/>
            <a:chExt cx="932330" cy="572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330" cy="572381"/>
            </a:xfrm>
            <a:custGeom>
              <a:avLst/>
              <a:gdLst/>
              <a:ahLst/>
              <a:cxnLst/>
              <a:rect r="r" b="b" t="t" l="l"/>
              <a:pathLst>
                <a:path h="572381" w="932330">
                  <a:moveTo>
                    <a:pt x="20035" y="0"/>
                  </a:moveTo>
                  <a:lnTo>
                    <a:pt x="912295" y="0"/>
                  </a:lnTo>
                  <a:cubicBezTo>
                    <a:pt x="917609" y="0"/>
                    <a:pt x="922705" y="2111"/>
                    <a:pt x="926462" y="5868"/>
                  </a:cubicBezTo>
                  <a:cubicBezTo>
                    <a:pt x="930219" y="9625"/>
                    <a:pt x="932330" y="14721"/>
                    <a:pt x="932330" y="20035"/>
                  </a:cubicBezTo>
                  <a:lnTo>
                    <a:pt x="932330" y="552346"/>
                  </a:lnTo>
                  <a:cubicBezTo>
                    <a:pt x="932330" y="557659"/>
                    <a:pt x="930219" y="562755"/>
                    <a:pt x="926462" y="566513"/>
                  </a:cubicBezTo>
                  <a:cubicBezTo>
                    <a:pt x="922705" y="570270"/>
                    <a:pt x="917609" y="572381"/>
                    <a:pt x="912295" y="572381"/>
                  </a:cubicBezTo>
                  <a:lnTo>
                    <a:pt x="20035" y="572381"/>
                  </a:lnTo>
                  <a:cubicBezTo>
                    <a:pt x="14721" y="572381"/>
                    <a:pt x="9625" y="570270"/>
                    <a:pt x="5868" y="566513"/>
                  </a:cubicBezTo>
                  <a:cubicBezTo>
                    <a:pt x="2111" y="562755"/>
                    <a:pt x="0" y="557659"/>
                    <a:pt x="0" y="552346"/>
                  </a:cubicBezTo>
                  <a:lnTo>
                    <a:pt x="0" y="20035"/>
                  </a:lnTo>
                  <a:cubicBezTo>
                    <a:pt x="0" y="14721"/>
                    <a:pt x="2111" y="9625"/>
                    <a:pt x="5868" y="5868"/>
                  </a:cubicBezTo>
                  <a:cubicBezTo>
                    <a:pt x="9625" y="2111"/>
                    <a:pt x="14721" y="0"/>
                    <a:pt x="20035" y="0"/>
                  </a:cubicBezTo>
                  <a:close/>
                </a:path>
              </a:pathLst>
            </a:custGeom>
            <a:blipFill>
              <a:blip r:embed="rId4"/>
              <a:stretch>
                <a:fillRect l="-18353" t="-14977" r="-19260" b="-11109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6873041" y="1712674"/>
            <a:ext cx="780172" cy="2569428"/>
          </a:xfrm>
          <a:custGeom>
            <a:avLst/>
            <a:gdLst/>
            <a:ahLst/>
            <a:cxnLst/>
            <a:rect r="r" b="b" t="t" l="l"/>
            <a:pathLst>
              <a:path h="2569428" w="780172">
                <a:moveTo>
                  <a:pt x="0" y="0"/>
                </a:moveTo>
                <a:lnTo>
                  <a:pt x="780171" y="0"/>
                </a:lnTo>
                <a:lnTo>
                  <a:pt x="780171" y="2569427"/>
                </a:lnTo>
                <a:lnTo>
                  <a:pt x="0" y="2569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9017" y="2312355"/>
            <a:ext cx="5818947" cy="107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Solucion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354" y="3856164"/>
            <a:ext cx="7518823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Nuestro propósito </a:t>
            </a: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es diseñar y desarrollar un gestor Kanban inteligente con integración de IA, que sea accesible, automatizado y adaptado al mercado latinoamericano.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 Se justifica porque: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Responde a la falta de herramientas accesibles y usables para organizaciones pequeñas.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Ofrece una interfaz sencilla y en español, reduciendo la barrera de entrada.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Incluye IA para automatizar tareas como la documentación de proyectos.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074730" y="9407969"/>
            <a:ext cx="218405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Thynk Unlimited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0395" y="3911219"/>
            <a:ext cx="1879267" cy="1879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405" y="3907459"/>
            <a:ext cx="1883026" cy="18830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6583" y="6472721"/>
            <a:ext cx="1897654" cy="18976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8770" lIns="38770" bIns="38770" rIns="3877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0395" y="6524271"/>
            <a:ext cx="1881654" cy="1881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23829" y="4195991"/>
            <a:ext cx="952399" cy="1411913"/>
          </a:xfrm>
          <a:custGeom>
            <a:avLst/>
            <a:gdLst/>
            <a:ahLst/>
            <a:cxnLst/>
            <a:rect r="r" b="b" t="t" l="l"/>
            <a:pathLst>
              <a:path h="1411913" w="952399">
                <a:moveTo>
                  <a:pt x="0" y="0"/>
                </a:moveTo>
                <a:lnTo>
                  <a:pt x="952400" y="0"/>
                </a:lnTo>
                <a:lnTo>
                  <a:pt x="952400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09650" y="4312945"/>
            <a:ext cx="973317" cy="1112940"/>
          </a:xfrm>
          <a:custGeom>
            <a:avLst/>
            <a:gdLst/>
            <a:ahLst/>
            <a:cxnLst/>
            <a:rect r="r" b="b" t="t" l="l"/>
            <a:pathLst>
              <a:path h="1112940" w="973317">
                <a:moveTo>
                  <a:pt x="0" y="0"/>
                </a:moveTo>
                <a:lnTo>
                  <a:pt x="973317" y="0"/>
                </a:lnTo>
                <a:lnTo>
                  <a:pt x="973317" y="1112941"/>
                </a:lnTo>
                <a:lnTo>
                  <a:pt x="0" y="1112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75352" y="6848491"/>
            <a:ext cx="1049354" cy="1233215"/>
          </a:xfrm>
          <a:custGeom>
            <a:avLst/>
            <a:gdLst/>
            <a:ahLst/>
            <a:cxnLst/>
            <a:rect r="r" b="b" t="t" l="l"/>
            <a:pathLst>
              <a:path h="1233215" w="1049354">
                <a:moveTo>
                  <a:pt x="0" y="0"/>
                </a:moveTo>
                <a:lnTo>
                  <a:pt x="1049354" y="0"/>
                </a:lnTo>
                <a:lnTo>
                  <a:pt x="1049354" y="1233215"/>
                </a:lnTo>
                <a:lnTo>
                  <a:pt x="0" y="1233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1522718" y="0"/>
            <a:ext cx="6765282" cy="6770925"/>
          </a:xfrm>
          <a:custGeom>
            <a:avLst/>
            <a:gdLst/>
            <a:ahLst/>
            <a:cxnLst/>
            <a:rect r="r" b="b" t="t" l="l"/>
            <a:pathLst>
              <a:path h="6770925" w="6765282">
                <a:moveTo>
                  <a:pt x="0" y="0"/>
                </a:moveTo>
                <a:lnTo>
                  <a:pt x="6765282" y="0"/>
                </a:lnTo>
                <a:lnTo>
                  <a:pt x="6765282" y="6770925"/>
                </a:lnTo>
                <a:lnTo>
                  <a:pt x="0" y="6770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32289" y="1512389"/>
            <a:ext cx="13049141" cy="119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1"/>
              </a:lnSpc>
            </a:pPr>
            <a:r>
              <a:rPr lang="en-US" b="true" sz="8817" spc="305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OBJETIVOS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-507891" y="-1283364"/>
            <a:ext cx="5480359" cy="4229632"/>
            <a:chOff x="0" y="0"/>
            <a:chExt cx="905432" cy="698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10"/>
              <a:stretch>
                <a:fillRect l="-17658" t="0" r="-17658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822496" y="6884863"/>
            <a:ext cx="1160471" cy="1160471"/>
          </a:xfrm>
          <a:custGeom>
            <a:avLst/>
            <a:gdLst/>
            <a:ahLst/>
            <a:cxnLst/>
            <a:rect r="r" b="b" t="t" l="l"/>
            <a:pathLst>
              <a:path h="1160471" w="1160471">
                <a:moveTo>
                  <a:pt x="0" y="0"/>
                </a:moveTo>
                <a:lnTo>
                  <a:pt x="1160471" y="0"/>
                </a:lnTo>
                <a:lnTo>
                  <a:pt x="1160471" y="1160471"/>
                </a:lnTo>
                <a:lnTo>
                  <a:pt x="0" y="11604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94183" y="3513879"/>
            <a:ext cx="3071543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01. Accesibilidad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9939" y="3513879"/>
            <a:ext cx="3418129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03. Escalabilidad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98949" y="6421974"/>
            <a:ext cx="3359119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04. Automatización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94183" y="6421974"/>
            <a:ext cx="3071543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02. Organización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4183" y="4005731"/>
            <a:ext cx="2689114" cy="13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Ofrecer una plataforma accesible y con una interfaz intuitiva para reducir  grandes cantidades de informacion.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94183" y="7067664"/>
            <a:ext cx="2933584" cy="107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Facilitar la gestión de tareas, roles, permisos y flujos de trabajo mediante un tablero Kanban intuitivo.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39939" y="4005731"/>
            <a:ext cx="2699178" cy="16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Entregar un MVP(Producto mínimo viable) funcional que pueda evolucionar en el futuro con más funcionalidades e integraciones.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98949" y="7067664"/>
            <a:ext cx="2787064" cy="13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Utilizar IA para automatizar tareas repetidas como la generación de documentos,  seguimiento de avances o resumen de información. 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49950" y="1028700"/>
            <a:ext cx="9009350" cy="3627800"/>
            <a:chOff x="0" y="0"/>
            <a:chExt cx="1395784" cy="562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5784" cy="562041"/>
            </a:xfrm>
            <a:custGeom>
              <a:avLst/>
              <a:gdLst/>
              <a:ahLst/>
              <a:cxnLst/>
              <a:rect r="r" b="b" t="t" l="l"/>
              <a:pathLst>
                <a:path h="562041" w="1395784">
                  <a:moveTo>
                    <a:pt x="19764" y="0"/>
                  </a:moveTo>
                  <a:lnTo>
                    <a:pt x="1376020" y="0"/>
                  </a:lnTo>
                  <a:cubicBezTo>
                    <a:pt x="1381262" y="0"/>
                    <a:pt x="1386289" y="2082"/>
                    <a:pt x="1389995" y="5789"/>
                  </a:cubicBezTo>
                  <a:cubicBezTo>
                    <a:pt x="1393702" y="9495"/>
                    <a:pt x="1395784" y="14523"/>
                    <a:pt x="1395784" y="19764"/>
                  </a:cubicBezTo>
                  <a:lnTo>
                    <a:pt x="1395784" y="542277"/>
                  </a:lnTo>
                  <a:cubicBezTo>
                    <a:pt x="1395784" y="547519"/>
                    <a:pt x="1393702" y="552546"/>
                    <a:pt x="1389995" y="556252"/>
                  </a:cubicBezTo>
                  <a:cubicBezTo>
                    <a:pt x="1386289" y="559959"/>
                    <a:pt x="1381262" y="562041"/>
                    <a:pt x="1376020" y="562041"/>
                  </a:cubicBezTo>
                  <a:lnTo>
                    <a:pt x="19764" y="562041"/>
                  </a:lnTo>
                  <a:cubicBezTo>
                    <a:pt x="14523" y="562041"/>
                    <a:pt x="9495" y="559959"/>
                    <a:pt x="5789" y="556252"/>
                  </a:cubicBezTo>
                  <a:cubicBezTo>
                    <a:pt x="2082" y="552546"/>
                    <a:pt x="0" y="547519"/>
                    <a:pt x="0" y="542277"/>
                  </a:cubicBezTo>
                  <a:lnTo>
                    <a:pt x="0" y="19764"/>
                  </a:lnTo>
                  <a:cubicBezTo>
                    <a:pt x="0" y="14523"/>
                    <a:pt x="2082" y="9495"/>
                    <a:pt x="5789" y="5789"/>
                  </a:cubicBezTo>
                  <a:cubicBezTo>
                    <a:pt x="9495" y="2082"/>
                    <a:pt x="14523" y="0"/>
                    <a:pt x="19764" y="0"/>
                  </a:cubicBezTo>
                  <a:close/>
                </a:path>
              </a:pathLst>
            </a:custGeom>
            <a:blipFill>
              <a:blip r:embed="rId2"/>
              <a:stretch>
                <a:fillRect l="-2065" t="-38771" r="0" b="-3358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12704" y="3487610"/>
            <a:ext cx="5782737" cy="5770690"/>
          </a:xfrm>
          <a:custGeom>
            <a:avLst/>
            <a:gdLst/>
            <a:ahLst/>
            <a:cxnLst/>
            <a:rect r="r" b="b" t="t" l="l"/>
            <a:pathLst>
              <a:path h="5770690" w="5782737">
                <a:moveTo>
                  <a:pt x="0" y="0"/>
                </a:moveTo>
                <a:lnTo>
                  <a:pt x="5782737" y="0"/>
                </a:lnTo>
                <a:lnTo>
                  <a:pt x="5782737" y="5770690"/>
                </a:lnTo>
                <a:lnTo>
                  <a:pt x="0" y="5770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19052" y="2348144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5506" y="1855091"/>
            <a:ext cx="6043800" cy="2052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Alcance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49950" y="5361350"/>
            <a:ext cx="96584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El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pro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y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ecto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aba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9950" y="8365989"/>
            <a:ext cx="550639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Duración estimada: 5 meses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9950" y="5940153"/>
            <a:ext cx="9008839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Tab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lero Kanban con funcionalidades básicas.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Roles y permisos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de usuario diferenciados.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Exportación de datos y plantillas personalizadas.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Interacción entre usuarios.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Implementación con ia.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Visualización de datos en tiempo real (Dashboard)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3657531"/>
            <a:ext cx="18463506" cy="9525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63083" y="3956371"/>
            <a:ext cx="5782737" cy="5770690"/>
          </a:xfrm>
          <a:custGeom>
            <a:avLst/>
            <a:gdLst/>
            <a:ahLst/>
            <a:cxnLst/>
            <a:rect r="r" b="b" t="t" l="l"/>
            <a:pathLst>
              <a:path h="5770690" w="5782737">
                <a:moveTo>
                  <a:pt x="0" y="0"/>
                </a:moveTo>
                <a:lnTo>
                  <a:pt x="5782738" y="0"/>
                </a:lnTo>
                <a:lnTo>
                  <a:pt x="5782738" y="5770690"/>
                </a:lnTo>
                <a:lnTo>
                  <a:pt x="0" y="577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9052" y="2348144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60596" y="2586269"/>
            <a:ext cx="6043800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Limitaciones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53343" y="4293125"/>
            <a:ext cx="4629153" cy="254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01. Tiempo Extremadamente Ajustado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Tiempo muy ajustado para algunos integrantes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853343" y="7586540"/>
            <a:ext cx="4495200" cy="254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03. Complejidad Técnica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Integración simultánea IA + Kanban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Curva de aprendizaje en Angular, PrismaDB y Docker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82546" y="4297626"/>
            <a:ext cx="4417596" cy="211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04. Coordinación de Equipo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4 roles diferentes (Dev, PO, Scrum Master, QA)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Comunicación constante requerida.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3343" y="6225547"/>
            <a:ext cx="4039404" cy="12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02.  Recursos Limitados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apis gratuitas con restricciones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2546" y="6584956"/>
            <a:ext cx="4417596" cy="169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05. Alcance Reducido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No incluye: integraciones externas, BI, notificaciones push.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2546" y="8443790"/>
            <a:ext cx="4495200" cy="169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06. Validación Limitada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Poco tiempo para feedback de usuarios reales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061825" y="-835725"/>
            <a:ext cx="6339891" cy="6345178"/>
          </a:xfrm>
          <a:custGeom>
            <a:avLst/>
            <a:gdLst/>
            <a:ahLst/>
            <a:cxnLst/>
            <a:rect r="r" b="b" t="t" l="l"/>
            <a:pathLst>
              <a:path h="6345178" w="6339891">
                <a:moveTo>
                  <a:pt x="0" y="0"/>
                </a:moveTo>
                <a:lnTo>
                  <a:pt x="6339890" y="0"/>
                </a:lnTo>
                <a:lnTo>
                  <a:pt x="6339890" y="6345178"/>
                </a:lnTo>
                <a:lnTo>
                  <a:pt x="0" y="6345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61825" y="5509453"/>
            <a:ext cx="3039700" cy="3026191"/>
          </a:xfrm>
          <a:custGeom>
            <a:avLst/>
            <a:gdLst/>
            <a:ahLst/>
            <a:cxnLst/>
            <a:rect r="r" b="b" t="t" l="l"/>
            <a:pathLst>
              <a:path h="3026191" w="3039700">
                <a:moveTo>
                  <a:pt x="0" y="0"/>
                </a:moveTo>
                <a:lnTo>
                  <a:pt x="3039700" y="0"/>
                </a:lnTo>
                <a:lnTo>
                  <a:pt x="3039700" y="3026191"/>
                </a:lnTo>
                <a:lnTo>
                  <a:pt x="0" y="3026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89823" y="5537907"/>
            <a:ext cx="3038065" cy="2997737"/>
          </a:xfrm>
          <a:custGeom>
            <a:avLst/>
            <a:gdLst/>
            <a:ahLst/>
            <a:cxnLst/>
            <a:rect r="r" b="b" t="t" l="l"/>
            <a:pathLst>
              <a:path h="2997737" w="3038065">
                <a:moveTo>
                  <a:pt x="0" y="0"/>
                </a:moveTo>
                <a:lnTo>
                  <a:pt x="3038065" y="0"/>
                </a:lnTo>
                <a:lnTo>
                  <a:pt x="3038065" y="2997737"/>
                </a:lnTo>
                <a:lnTo>
                  <a:pt x="0" y="2997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2627" y="5509453"/>
            <a:ext cx="3119960" cy="3026191"/>
          </a:xfrm>
          <a:custGeom>
            <a:avLst/>
            <a:gdLst/>
            <a:ahLst/>
            <a:cxnLst/>
            <a:rect r="r" b="b" t="t" l="l"/>
            <a:pathLst>
              <a:path h="3026191" w="3119960">
                <a:moveTo>
                  <a:pt x="0" y="0"/>
                </a:moveTo>
                <a:lnTo>
                  <a:pt x="3119961" y="0"/>
                </a:lnTo>
                <a:lnTo>
                  <a:pt x="3119961" y="3026191"/>
                </a:lnTo>
                <a:lnTo>
                  <a:pt x="0" y="3026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022" t="-7344" r="-25108" b="-32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1980" y="4361896"/>
            <a:ext cx="4061255" cy="40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  <a:spcBef>
                <a:spcPct val="0"/>
              </a:spcBef>
            </a:pPr>
            <a:r>
              <a:rPr lang="en-US" b="true" sz="24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SCRUM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43468" y="4349864"/>
            <a:ext cx="2710484" cy="38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KANBAN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07241" y="4407135"/>
            <a:ext cx="2548868" cy="38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25010 Y  27001</a:t>
            </a:r>
          </a:p>
        </p:txBody>
      </p:sp>
      <p:sp>
        <p:nvSpPr>
          <p:cNvPr name="AutoShape 9" id="9"/>
          <p:cNvSpPr/>
          <p:nvPr/>
        </p:nvSpPr>
        <p:spPr>
          <a:xfrm>
            <a:off x="-209176" y="9258300"/>
            <a:ext cx="18931484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768089" y="2602326"/>
            <a:ext cx="11822785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Metodologías aplicadas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2389" y="321523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7" y="0"/>
                </a:lnTo>
                <a:lnTo>
                  <a:pt x="7959067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3068" y="2887925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5188" y="2450949"/>
            <a:ext cx="13777625" cy="235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Cronograma para el desarrollo del proyecto</a:t>
            </a:r>
          </a:p>
        </p:txBody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88" r="0" b="-11888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223" t="0" r="-59223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5427"/>
            <a:ext cx="18085389" cy="6912873"/>
          </a:xfrm>
          <a:custGeom>
            <a:avLst/>
            <a:gdLst/>
            <a:ahLst/>
            <a:cxnLst/>
            <a:rect r="r" b="b" t="t" l="l"/>
            <a:pathLst>
              <a:path h="6912873" w="18085389">
                <a:moveTo>
                  <a:pt x="0" y="0"/>
                </a:moveTo>
                <a:lnTo>
                  <a:pt x="18085389" y="0"/>
                </a:lnTo>
                <a:lnTo>
                  <a:pt x="18085389" y="6912873"/>
                </a:lnTo>
                <a:lnTo>
                  <a:pt x="0" y="6912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983" t="-292" r="-18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11315" y="-6105319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5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-1635054" y="4663396"/>
            <a:ext cx="7418824" cy="7425012"/>
          </a:xfrm>
          <a:custGeom>
            <a:avLst/>
            <a:gdLst/>
            <a:ahLst/>
            <a:cxnLst/>
            <a:rect r="r" b="b" t="t" l="l"/>
            <a:pathLst>
              <a:path h="7425012" w="7418824">
                <a:moveTo>
                  <a:pt x="7418824" y="7425012"/>
                </a:moveTo>
                <a:lnTo>
                  <a:pt x="0" y="7425012"/>
                </a:lnTo>
                <a:lnTo>
                  <a:pt x="0" y="0"/>
                </a:lnTo>
                <a:lnTo>
                  <a:pt x="7418824" y="0"/>
                </a:lnTo>
                <a:lnTo>
                  <a:pt x="7418824" y="74250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5415" y="4585267"/>
            <a:ext cx="824630" cy="82463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83393" y="5018521"/>
            <a:ext cx="4521213" cy="4385469"/>
            <a:chOff x="0" y="0"/>
            <a:chExt cx="1190772" cy="1155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7220" y="4585267"/>
            <a:ext cx="824630" cy="8246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770805" y="5018521"/>
            <a:ext cx="4521213" cy="4385469"/>
            <a:chOff x="0" y="0"/>
            <a:chExt cx="1190772" cy="11550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04632" y="4606206"/>
            <a:ext cx="824630" cy="8246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49944" y="6260622"/>
            <a:ext cx="2294980" cy="1527205"/>
          </a:xfrm>
          <a:custGeom>
            <a:avLst/>
            <a:gdLst/>
            <a:ahLst/>
            <a:cxnLst/>
            <a:rect r="r" b="b" t="t" l="l"/>
            <a:pathLst>
              <a:path h="1527205" w="2294980">
                <a:moveTo>
                  <a:pt x="0" y="0"/>
                </a:moveTo>
                <a:lnTo>
                  <a:pt x="2294980" y="0"/>
                </a:lnTo>
                <a:lnTo>
                  <a:pt x="2294980" y="1527205"/>
                </a:lnTo>
                <a:lnTo>
                  <a:pt x="0" y="152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66556" y="6358459"/>
            <a:ext cx="2312839" cy="1527205"/>
          </a:xfrm>
          <a:custGeom>
            <a:avLst/>
            <a:gdLst/>
            <a:ahLst/>
            <a:cxnLst/>
            <a:rect r="r" b="b" t="t" l="l"/>
            <a:pathLst>
              <a:path h="1527205" w="2312839">
                <a:moveTo>
                  <a:pt x="0" y="0"/>
                </a:moveTo>
                <a:lnTo>
                  <a:pt x="2312839" y="0"/>
                </a:lnTo>
                <a:lnTo>
                  <a:pt x="2312839" y="1527204"/>
                </a:lnTo>
                <a:lnTo>
                  <a:pt x="0" y="1527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279" r="0" b="-527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24558" y="2288836"/>
            <a:ext cx="15034742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Tecnologías y herramientas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878573" y="6095839"/>
            <a:ext cx="2426606" cy="1107415"/>
          </a:xfrm>
          <a:custGeom>
            <a:avLst/>
            <a:gdLst/>
            <a:ahLst/>
            <a:cxnLst/>
            <a:rect r="r" b="b" t="t" l="l"/>
            <a:pathLst>
              <a:path h="1107415" w="2426606">
                <a:moveTo>
                  <a:pt x="0" y="0"/>
                </a:moveTo>
                <a:lnTo>
                  <a:pt x="2426606" y="0"/>
                </a:lnTo>
                <a:lnTo>
                  <a:pt x="2426606" y="1107415"/>
                </a:lnTo>
                <a:lnTo>
                  <a:pt x="0" y="1107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68341" y="5933772"/>
            <a:ext cx="3576495" cy="4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Angular.</a:t>
            </a:r>
          </a:p>
          <a:p>
            <a:pPr algn="l">
              <a:lnSpc>
                <a:spcPts val="178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234104" y="6983842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Miro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8341" y="7121234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ExpressJS.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55752" y="684500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Notion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4104" y="6575201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Excel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77400" y="7797352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PostgreSQL.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91712" y="7320326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Visual Studio Code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68341" y="6479951"/>
            <a:ext cx="3576495" cy="4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PrismaDB</a:t>
            </a:r>
          </a:p>
          <a:p>
            <a:pPr algn="l">
              <a:lnSpc>
                <a:spcPts val="178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-2827377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BackEnd/FrontEnd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31929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Apoyo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55752" y="5894376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GitHub y Git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55752" y="6369693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Figma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19340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Planificacion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91712" y="7795643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Data Modeler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34104" y="5761960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User Story Map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34104" y="6170601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Roadmap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91712" y="827095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Docker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68341" y="827095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Tailwindcss</a:t>
            </a:r>
          </a:p>
        </p:txBody>
      </p:sp>
      <p:sp>
        <p:nvSpPr>
          <p:cNvPr name="AutoShape 42" id="42"/>
          <p:cNvSpPr/>
          <p:nvPr/>
        </p:nvSpPr>
        <p:spPr>
          <a:xfrm>
            <a:off x="0" y="3657531"/>
            <a:ext cx="18463506" cy="9525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3374" y="982863"/>
            <a:ext cx="11156860" cy="8020024"/>
            <a:chOff x="0" y="0"/>
            <a:chExt cx="1257272" cy="9037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272" cy="903781"/>
            </a:xfrm>
            <a:custGeom>
              <a:avLst/>
              <a:gdLst/>
              <a:ahLst/>
              <a:cxnLst/>
              <a:rect r="r" b="b" t="t" l="l"/>
              <a:pathLst>
                <a:path h="903781" w="1257272">
                  <a:moveTo>
                    <a:pt x="15960" y="0"/>
                  </a:moveTo>
                  <a:lnTo>
                    <a:pt x="1241312" y="0"/>
                  </a:lnTo>
                  <a:cubicBezTo>
                    <a:pt x="1250127" y="0"/>
                    <a:pt x="1257272" y="7146"/>
                    <a:pt x="1257272" y="15960"/>
                  </a:cubicBezTo>
                  <a:lnTo>
                    <a:pt x="1257272" y="887821"/>
                  </a:lnTo>
                  <a:cubicBezTo>
                    <a:pt x="1257272" y="892053"/>
                    <a:pt x="1255591" y="896113"/>
                    <a:pt x="1252598" y="899106"/>
                  </a:cubicBezTo>
                  <a:cubicBezTo>
                    <a:pt x="1249605" y="902099"/>
                    <a:pt x="1245545" y="903781"/>
                    <a:pt x="1241312" y="903781"/>
                  </a:cubicBezTo>
                  <a:lnTo>
                    <a:pt x="15960" y="903781"/>
                  </a:lnTo>
                  <a:cubicBezTo>
                    <a:pt x="11727" y="903781"/>
                    <a:pt x="7668" y="902099"/>
                    <a:pt x="4675" y="899106"/>
                  </a:cubicBezTo>
                  <a:cubicBezTo>
                    <a:pt x="1682" y="896113"/>
                    <a:pt x="0" y="892053"/>
                    <a:pt x="0" y="887821"/>
                  </a:cubicBezTo>
                  <a:lnTo>
                    <a:pt x="0" y="15960"/>
                  </a:lnTo>
                  <a:cubicBezTo>
                    <a:pt x="0" y="11727"/>
                    <a:pt x="1682" y="7668"/>
                    <a:pt x="4675" y="4675"/>
                  </a:cubicBezTo>
                  <a:cubicBezTo>
                    <a:pt x="7668" y="1682"/>
                    <a:pt x="11727" y="0"/>
                    <a:pt x="15960" y="0"/>
                  </a:cubicBezTo>
                  <a:close/>
                </a:path>
              </a:pathLst>
            </a:custGeom>
            <a:blipFill>
              <a:blip r:embed="rId2"/>
              <a:stretch>
                <a:fillRect l="-891" t="0" r="-89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524008" y="4164769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4076" y="3083450"/>
            <a:ext cx="4805446" cy="304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bases de datos relacional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5"/>
              <a:stretch>
                <a:fillRect l="-17658" t="0" r="-1765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074730" y="9407969"/>
            <a:ext cx="218405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PostgreSQL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8689" y="2292823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3140" y="697293"/>
            <a:ext cx="9228490" cy="103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9271" spc="-927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Costo  del  proyecto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1865746"/>
            <a:ext cx="18423986" cy="7956364"/>
          </a:xfrm>
          <a:custGeom>
            <a:avLst/>
            <a:gdLst/>
            <a:ahLst/>
            <a:cxnLst/>
            <a:rect r="r" b="b" t="t" l="l"/>
            <a:pathLst>
              <a:path h="7956364" w="18423986">
                <a:moveTo>
                  <a:pt x="0" y="0"/>
                </a:moveTo>
                <a:lnTo>
                  <a:pt x="18423986" y="0"/>
                </a:lnTo>
                <a:lnTo>
                  <a:pt x="18423986" y="7956364"/>
                </a:lnTo>
                <a:lnTo>
                  <a:pt x="0" y="79563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59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499906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9503" y="3565558"/>
            <a:ext cx="9274520" cy="233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Presentación del proyecto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303231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2"/>
                </a:lnTo>
                <a:lnTo>
                  <a:pt x="0" y="6626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9503" y="3565558"/>
            <a:ext cx="9274520" cy="124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Futuras mejoras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499906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30770" y="3614251"/>
            <a:ext cx="9274520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Muchas Gracias!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DAG4-HIRj1w</dc:identifier>
  <dcterms:modified xsi:type="dcterms:W3CDTF">2011-08-01T06:04:30Z</dcterms:modified>
  <cp:revision>1</cp:revision>
  <dc:title>Gray Blue and Black Modern Business Presentation</dc:title>
</cp:coreProperties>
</file>