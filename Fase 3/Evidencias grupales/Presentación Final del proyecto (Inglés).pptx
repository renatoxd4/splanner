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8288000" cy="10287000"/>
  <p:notesSz cx="6858000" cy="9144000"/>
  <p:embeddedFontLst>
    <p:embeddedFont>
      <p:font typeface="Public Sans Medium" charset="1" panose="00000000000000000000"/>
      <p:regular r:id="rId25"/>
    </p:embeddedFont>
    <p:embeddedFont>
      <p:font typeface="Public Sans Bold" charset="1" panose="00000000000000000000"/>
      <p:regular r:id="rId26"/>
    </p:embeddedFont>
    <p:embeddedFont>
      <p:font typeface="Public Sans" charset="1" panose="00000000000000000000"/>
      <p:regular r:id="rId27"/>
    </p:embeddedFont>
    <p:embeddedFont>
      <p:font typeface="Open Sans 1 Bold" charset="1" panose="020B0806030504020204"/>
      <p:regular r:id="rId28"/>
    </p:embeddedFont>
    <p:embeddedFont>
      <p:font typeface="Open Sans 2 Bold" charset="1" panose="00000000000000000000"/>
      <p:regular r:id="rId29"/>
    </p:embeddedFont>
    <p:embeddedFont>
      <p:font typeface="Open Sans 1" charset="1" panose="020B0606030504020204"/>
      <p:regular r:id="rId30"/>
    </p:embeddedFont>
    <p:embeddedFont>
      <p:font typeface="Open Sans 2" charset="1" panose="0000000000000000000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8.jpeg" Type="http://schemas.openxmlformats.org/officeDocument/2006/relationships/image"/><Relationship Id="rId5" Target="../media/image9.png" Type="http://schemas.openxmlformats.org/officeDocument/2006/relationships/image"/><Relationship Id="rId6" Target="../media/image10.svg" Type="http://schemas.openxmlformats.org/officeDocument/2006/relationships/image"/><Relationship Id="rId7" Target="../media/image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11.pn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.png" Type="http://schemas.openxmlformats.org/officeDocument/2006/relationships/image"/><Relationship Id="rId11" Target="../media/image20.png" Type="http://schemas.openxmlformats.org/officeDocument/2006/relationships/image"/><Relationship Id="rId12" Target="../media/image21.svg" Type="http://schemas.openxmlformats.org/officeDocument/2006/relationships/image"/><Relationship Id="rId2" Target="../media/image14.png" Type="http://schemas.openxmlformats.org/officeDocument/2006/relationships/image"/><Relationship Id="rId3" Target="../media/image15.sv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18.png" Type="http://schemas.openxmlformats.org/officeDocument/2006/relationships/image"/><Relationship Id="rId7" Target="../media/image19.svg" Type="http://schemas.openxmlformats.org/officeDocument/2006/relationships/image"/><Relationship Id="rId8" Target="../media/image4.png" Type="http://schemas.openxmlformats.org/officeDocument/2006/relationships/image"/><Relationship Id="rId9" Target="../media/image5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23.png" Type="http://schemas.openxmlformats.org/officeDocument/2006/relationships/image"/><Relationship Id="rId4" Target="../media/image24.svg" Type="http://schemas.openxmlformats.org/officeDocument/2006/relationships/image"/><Relationship Id="rId5" Target="../media/image25.png" Type="http://schemas.openxmlformats.org/officeDocument/2006/relationships/image"/><Relationship Id="rId6" Target="../media/image26.svg" Type="http://schemas.openxmlformats.org/officeDocument/2006/relationships/image"/><Relationship Id="rId7" Target="../media/image3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24.svg" Type="http://schemas.openxmlformats.org/officeDocument/2006/relationships/image"/><Relationship Id="rId4" Target="../media/image25.png" Type="http://schemas.openxmlformats.org/officeDocument/2006/relationships/image"/><Relationship Id="rId5" Target="../media/image26.svg" Type="http://schemas.openxmlformats.org/officeDocument/2006/relationships/image"/><Relationship Id="rId6" Target="../media/image3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27.png" Type="http://schemas.openxmlformats.org/officeDocument/2006/relationships/image"/><Relationship Id="rId5" Target="../media/image28.png" Type="http://schemas.openxmlformats.org/officeDocument/2006/relationships/image"/><Relationship Id="rId6" Target="../media/image29.png" Type="http://schemas.openxmlformats.org/officeDocument/2006/relationships/image"/><Relationship Id="rId7" Target="../media/image3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0.png" Type="http://schemas.openxmlformats.org/officeDocument/2006/relationships/image"/><Relationship Id="rId5" Target="../media/image31.svg" Type="http://schemas.openxmlformats.org/officeDocument/2006/relationships/image"/><Relationship Id="rId6" Target="../media/image3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3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4.pn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35.png" Type="http://schemas.openxmlformats.org/officeDocument/2006/relationships/image"/><Relationship Id="rId5" Target="../media/image36.png" Type="http://schemas.openxmlformats.org/officeDocument/2006/relationships/image"/><Relationship Id="rId6" Target="../media/image3.png" Type="http://schemas.openxmlformats.org/officeDocument/2006/relationships/image"/><Relationship Id="rId7" Target="../media/image37.png" Type="http://schemas.openxmlformats.org/officeDocument/2006/relationships/image"/><Relationship Id="rId8" Target="../media/image38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9.jpeg" Type="http://schemas.openxmlformats.org/officeDocument/2006/relationships/image"/><Relationship Id="rId3" Target="../media/image40.png" Type="http://schemas.openxmlformats.org/officeDocument/2006/relationships/image"/><Relationship Id="rId4" Target="../media/image41.svg" Type="http://schemas.openxmlformats.org/officeDocument/2006/relationships/image"/><Relationship Id="rId5" Target="../media/image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0.png" Type="http://schemas.openxmlformats.org/officeDocument/2006/relationships/image"/><Relationship Id="rId5" Target="../media/image31.svg" Type="http://schemas.openxmlformats.org/officeDocument/2006/relationships/image"/><Relationship Id="rId6" Target="../media/image42.png" Type="http://schemas.openxmlformats.org/officeDocument/2006/relationships/image"/><Relationship Id="rId7" Target="../media/image3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0.png" Type="http://schemas.openxmlformats.org/officeDocument/2006/relationships/image"/><Relationship Id="rId5" Target="../media/image31.svg" Type="http://schemas.openxmlformats.org/officeDocument/2006/relationships/image"/><Relationship Id="rId6" Target="../media/image3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0.png" Type="http://schemas.openxmlformats.org/officeDocument/2006/relationships/image"/><Relationship Id="rId5" Target="../media/image31.svg" Type="http://schemas.openxmlformats.org/officeDocument/2006/relationships/image"/><Relationship Id="rId6" Target="../media/image3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0.png" Type="http://schemas.openxmlformats.org/officeDocument/2006/relationships/image"/><Relationship Id="rId5" Target="../media/image31.svg" Type="http://schemas.openxmlformats.org/officeDocument/2006/relationships/image"/><Relationship Id="rId6" Target="../media/image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133208" y="4862154"/>
            <a:ext cx="7959066" cy="8450746"/>
          </a:xfrm>
          <a:custGeom>
            <a:avLst/>
            <a:gdLst/>
            <a:ahLst/>
            <a:cxnLst/>
            <a:rect r="r" b="b" t="t" l="l"/>
            <a:pathLst>
              <a:path h="8450746" w="795906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379181" y="3898348"/>
            <a:ext cx="5050543" cy="1550789"/>
          </a:xfrm>
          <a:custGeom>
            <a:avLst/>
            <a:gdLst/>
            <a:ahLst/>
            <a:cxnLst/>
            <a:rect r="r" b="b" t="t" l="l"/>
            <a:pathLst>
              <a:path h="1550789" w="5050543">
                <a:moveTo>
                  <a:pt x="0" y="0"/>
                </a:moveTo>
                <a:lnTo>
                  <a:pt x="5050542" y="0"/>
                </a:lnTo>
                <a:lnTo>
                  <a:pt x="5050542" y="1550789"/>
                </a:lnTo>
                <a:lnTo>
                  <a:pt x="0" y="15507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3705" t="-136567" r="-50521" b="-142781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007352" y="4199688"/>
            <a:ext cx="5371829" cy="1249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18"/>
              </a:lnSpc>
            </a:pPr>
            <a:r>
              <a:rPr lang="en-US" b="true" sz="11193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Project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816064" y="6070166"/>
            <a:ext cx="6025168" cy="4648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b="true">
                <a:solidFill>
                  <a:srgbClr val="F1F1F1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FINAL CAPSTONE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60291" y="-1435764"/>
            <a:ext cx="5482615" cy="4231373"/>
            <a:chOff x="0" y="0"/>
            <a:chExt cx="905432" cy="69879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05432" cy="698795"/>
            </a:xfrm>
            <a:custGeom>
              <a:avLst/>
              <a:gdLst/>
              <a:ahLst/>
              <a:cxnLst/>
              <a:rect r="r" b="b" t="t" l="l"/>
              <a:pathLst>
                <a:path h="698795" w="905432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2"/>
              <a:stretch>
                <a:fillRect l="-17658" t="0" r="-17658" b="0"/>
              </a:stretch>
            </a:blipFill>
          </p:spPr>
        </p:sp>
      </p:grpSp>
      <p:sp>
        <p:nvSpPr>
          <p:cNvPr name="AutoShape 4" id="4"/>
          <p:cNvSpPr/>
          <p:nvPr/>
        </p:nvSpPr>
        <p:spPr>
          <a:xfrm flipV="true">
            <a:off x="-70012" y="3121203"/>
            <a:ext cx="18428024" cy="0"/>
          </a:xfrm>
          <a:prstGeom prst="line">
            <a:avLst/>
          </a:prstGeom>
          <a:ln cap="flat" w="19050">
            <a:solidFill>
              <a:srgbClr val="00BB1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5" id="5"/>
          <p:cNvSpPr/>
          <p:nvPr/>
        </p:nvSpPr>
        <p:spPr>
          <a:xfrm flipH="false" flipV="false" rot="-10800000">
            <a:off x="12581095" y="-12217"/>
            <a:ext cx="8703161" cy="8710420"/>
          </a:xfrm>
          <a:custGeom>
            <a:avLst/>
            <a:gdLst/>
            <a:ahLst/>
            <a:cxnLst/>
            <a:rect r="r" b="b" t="t" l="l"/>
            <a:pathLst>
              <a:path h="8710420" w="8703161">
                <a:moveTo>
                  <a:pt x="0" y="0"/>
                </a:moveTo>
                <a:lnTo>
                  <a:pt x="8703162" y="0"/>
                </a:lnTo>
                <a:lnTo>
                  <a:pt x="8703162" y="8710420"/>
                </a:lnTo>
                <a:lnTo>
                  <a:pt x="0" y="87104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9144000" y="1860674"/>
            <a:ext cx="185737" cy="185737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144000" y="4813810"/>
            <a:ext cx="185737" cy="185737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7686987" y="1963706"/>
            <a:ext cx="3285500" cy="125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18"/>
              </a:lnSpc>
            </a:pPr>
            <a:r>
              <a:rPr lang="en-US" sz="11193" spc="-1119" b="true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índice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31644" y="3781214"/>
            <a:ext cx="3935418" cy="462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Project Members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99535" y="3177651"/>
            <a:ext cx="1458330" cy="1094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631644" y="4778278"/>
            <a:ext cx="3935418" cy="462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Problem Statement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99535" y="4195602"/>
            <a:ext cx="1458330" cy="1094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31644" y="5842792"/>
            <a:ext cx="3935418" cy="462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Solution 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99535" y="5242717"/>
            <a:ext cx="1458330" cy="1094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3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631644" y="6909451"/>
            <a:ext cx="3935418" cy="462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Objectives 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99535" y="6337457"/>
            <a:ext cx="1458330" cy="1094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4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631644" y="7937022"/>
            <a:ext cx="3935418" cy="462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Project Scope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99535" y="7432197"/>
            <a:ext cx="1458330" cy="1094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5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321940" y="3776475"/>
            <a:ext cx="3935418" cy="462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Limitations 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989831" y="3172912"/>
            <a:ext cx="1458330" cy="1094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6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321940" y="4773538"/>
            <a:ext cx="3935418" cy="462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Applied Methodologies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989831" y="4190863"/>
            <a:ext cx="1458330" cy="1094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7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321940" y="5838053"/>
            <a:ext cx="3935418" cy="462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Schedule / Timeline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5989831" y="5237978"/>
            <a:ext cx="1458330" cy="1094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8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269160" y="6806221"/>
            <a:ext cx="3935418" cy="462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Technologies and Tools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5989831" y="6461282"/>
            <a:ext cx="1458330" cy="1094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9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7321940" y="7932283"/>
            <a:ext cx="3935418" cy="462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Database Model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989831" y="7465558"/>
            <a:ext cx="1458330" cy="1094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10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715689" y="3852675"/>
            <a:ext cx="4669832" cy="462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Cash Flow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1257359" y="3264864"/>
            <a:ext cx="1458330" cy="1094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11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715689" y="4828329"/>
            <a:ext cx="4415342" cy="462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Program Presentation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1257359" y="4282815"/>
            <a:ext cx="1458330" cy="1094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12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715689" y="5780585"/>
            <a:ext cx="3935418" cy="462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Future Improvements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1257359" y="5329930"/>
            <a:ext cx="1458330" cy="1094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13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715689" y="6911938"/>
            <a:ext cx="3935418" cy="462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Questions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1257359" y="6461282"/>
            <a:ext cx="1458330" cy="1094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14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941926" y="7012580"/>
            <a:ext cx="5859471" cy="2162678"/>
          </a:xfrm>
          <a:custGeom>
            <a:avLst/>
            <a:gdLst/>
            <a:ahLst/>
            <a:cxnLst/>
            <a:rect r="r" b="b" t="t" l="l"/>
            <a:pathLst>
              <a:path h="2162678" w="5859471">
                <a:moveTo>
                  <a:pt x="0" y="0"/>
                </a:moveTo>
                <a:lnTo>
                  <a:pt x="5859471" y="0"/>
                </a:lnTo>
                <a:lnTo>
                  <a:pt x="5859471" y="2162678"/>
                </a:lnTo>
                <a:lnTo>
                  <a:pt x="0" y="21626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4174129"/>
            <a:ext cx="6552222" cy="1924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8000" spc="-64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Project Members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363666" y="3111055"/>
            <a:ext cx="3426127" cy="24271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42"/>
              </a:lnSpc>
            </a:pPr>
            <a:r>
              <a:rPr lang="en-US" sz="174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PROJECT MANAGER</a:t>
            </a:r>
          </a:p>
          <a:p>
            <a:pPr algn="just">
              <a:lnSpc>
                <a:spcPts val="2442"/>
              </a:lnSpc>
            </a:pPr>
          </a:p>
          <a:p>
            <a:pPr algn="just">
              <a:lnSpc>
                <a:spcPts val="2442"/>
              </a:lnSpc>
            </a:pPr>
          </a:p>
          <a:p>
            <a:pPr algn="just">
              <a:lnSpc>
                <a:spcPts val="2442"/>
              </a:lnSpc>
            </a:pPr>
          </a:p>
          <a:p>
            <a:pPr algn="just">
              <a:lnSpc>
                <a:spcPts val="2442"/>
              </a:lnSpc>
            </a:pPr>
          </a:p>
          <a:p>
            <a:pPr algn="just">
              <a:lnSpc>
                <a:spcPts val="2442"/>
              </a:lnSpc>
            </a:pPr>
          </a:p>
          <a:p>
            <a:pPr algn="just">
              <a:lnSpc>
                <a:spcPts val="2442"/>
              </a:lnSpc>
            </a:pPr>
          </a:p>
          <a:p>
            <a:pPr algn="just">
              <a:lnSpc>
                <a:spcPts val="2442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1363666" y="3548251"/>
            <a:ext cx="5437572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-30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EDISON PARDO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363666" y="5118626"/>
            <a:ext cx="5437572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-30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RENATO CHICAHUAL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363666" y="4691516"/>
            <a:ext cx="3339070" cy="290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SCRUM MASTER</a:t>
            </a:r>
          </a:p>
        </p:txBody>
      </p:sp>
      <p:sp>
        <p:nvSpPr>
          <p:cNvPr name="AutoShape 8" id="8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cap="flat" w="47625">
            <a:solidFill>
              <a:srgbClr val="00BB1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11363666" y="6773320"/>
            <a:ext cx="5437572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-30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ALEXIS GONZÁLEZ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363666" y="6346210"/>
            <a:ext cx="3339070" cy="290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DEVELOPER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363666" y="8390178"/>
            <a:ext cx="5437572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-30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DIEGO ACEVEDO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363666" y="7963068"/>
            <a:ext cx="3339070" cy="290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QA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5866797" y="-1294609"/>
            <a:ext cx="4839189" cy="5138135"/>
          </a:xfrm>
          <a:custGeom>
            <a:avLst/>
            <a:gdLst/>
            <a:ahLst/>
            <a:cxnLst/>
            <a:rect r="r" b="b" t="t" l="l"/>
            <a:pathLst>
              <a:path h="5138135" w="4839189">
                <a:moveTo>
                  <a:pt x="0" y="0"/>
                </a:moveTo>
                <a:lnTo>
                  <a:pt x="4839188" y="0"/>
                </a:lnTo>
                <a:lnTo>
                  <a:pt x="4839188" y="5138135"/>
                </a:lnTo>
                <a:lnTo>
                  <a:pt x="0" y="51381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-507891" y="-1283364"/>
            <a:ext cx="5482615" cy="4231373"/>
            <a:chOff x="0" y="0"/>
            <a:chExt cx="905432" cy="69879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05432" cy="698795"/>
            </a:xfrm>
            <a:custGeom>
              <a:avLst/>
              <a:gdLst/>
              <a:ahLst/>
              <a:cxnLst/>
              <a:rect r="r" b="b" t="t" l="l"/>
              <a:pathLst>
                <a:path h="698795" w="905432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6"/>
              <a:stretch>
                <a:fillRect l="-17658" t="0" r="-17658" b="0"/>
              </a:stretch>
            </a:blipFill>
          </p:spPr>
        </p:sp>
      </p:grpSp>
    </p:spTree>
  </p:cSld>
  <p:clrMapOvr>
    <a:masterClrMapping/>
  </p:clrMapOvr>
  <p:transition spd="slow">
    <p:push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86760" y="8686339"/>
            <a:ext cx="4755052" cy="5048801"/>
          </a:xfrm>
          <a:custGeom>
            <a:avLst/>
            <a:gdLst/>
            <a:ahLst/>
            <a:cxnLst/>
            <a:rect r="r" b="b" t="t" l="l"/>
            <a:pathLst>
              <a:path h="5048801" w="4755052">
                <a:moveTo>
                  <a:pt x="0" y="0"/>
                </a:moveTo>
                <a:lnTo>
                  <a:pt x="4755052" y="0"/>
                </a:lnTo>
                <a:lnTo>
                  <a:pt x="4755052" y="5048801"/>
                </a:lnTo>
                <a:lnTo>
                  <a:pt x="0" y="50488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06121" y="2679789"/>
            <a:ext cx="9716331" cy="6818619"/>
            <a:chOff x="0" y="0"/>
            <a:chExt cx="1117832" cy="7844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17832" cy="784460"/>
            </a:xfrm>
            <a:custGeom>
              <a:avLst/>
              <a:gdLst/>
              <a:ahLst/>
              <a:cxnLst/>
              <a:rect r="r" b="b" t="t" l="l"/>
              <a:pathLst>
                <a:path h="784460" w="1117832">
                  <a:moveTo>
                    <a:pt x="18326" y="0"/>
                  </a:moveTo>
                  <a:lnTo>
                    <a:pt x="1099506" y="0"/>
                  </a:lnTo>
                  <a:cubicBezTo>
                    <a:pt x="1104366" y="0"/>
                    <a:pt x="1109028" y="1931"/>
                    <a:pt x="1112464" y="5368"/>
                  </a:cubicBezTo>
                  <a:cubicBezTo>
                    <a:pt x="1115901" y="8804"/>
                    <a:pt x="1117832" y="13466"/>
                    <a:pt x="1117832" y="18326"/>
                  </a:cubicBezTo>
                  <a:lnTo>
                    <a:pt x="1117832" y="766134"/>
                  </a:lnTo>
                  <a:cubicBezTo>
                    <a:pt x="1117832" y="770994"/>
                    <a:pt x="1115901" y="775655"/>
                    <a:pt x="1112464" y="779092"/>
                  </a:cubicBezTo>
                  <a:cubicBezTo>
                    <a:pt x="1109028" y="782529"/>
                    <a:pt x="1104366" y="784460"/>
                    <a:pt x="1099506" y="784460"/>
                  </a:cubicBezTo>
                  <a:lnTo>
                    <a:pt x="18326" y="784460"/>
                  </a:lnTo>
                  <a:cubicBezTo>
                    <a:pt x="8205" y="784460"/>
                    <a:pt x="0" y="776255"/>
                    <a:pt x="0" y="766134"/>
                  </a:cubicBezTo>
                  <a:lnTo>
                    <a:pt x="0" y="18326"/>
                  </a:lnTo>
                  <a:cubicBezTo>
                    <a:pt x="0" y="13466"/>
                    <a:pt x="1931" y="8804"/>
                    <a:pt x="5368" y="5368"/>
                  </a:cubicBezTo>
                  <a:cubicBezTo>
                    <a:pt x="8804" y="1931"/>
                    <a:pt x="13466" y="0"/>
                    <a:pt x="18326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9759" r="0" b="-9759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9943589" y="-414788"/>
            <a:ext cx="7315200" cy="3976809"/>
          </a:xfrm>
          <a:custGeom>
            <a:avLst/>
            <a:gdLst/>
            <a:ahLst/>
            <a:cxnLst/>
            <a:rect r="r" b="b" t="t" l="l"/>
            <a:pathLst>
              <a:path h="3976809" w="7315200">
                <a:moveTo>
                  <a:pt x="0" y="0"/>
                </a:moveTo>
                <a:lnTo>
                  <a:pt x="7315200" y="0"/>
                </a:lnTo>
                <a:lnTo>
                  <a:pt x="7315200" y="3976809"/>
                </a:lnTo>
                <a:lnTo>
                  <a:pt x="0" y="39768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92345" y="1504700"/>
            <a:ext cx="8659727" cy="10096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8000" spc="-640">
                <a:solidFill>
                  <a:srgbClr val="00BB13"/>
                </a:solidFill>
                <a:latin typeface="Public Sans"/>
                <a:ea typeface="Public Sans"/>
                <a:cs typeface="Public Sans"/>
                <a:sym typeface="Public Sans"/>
              </a:rPr>
              <a:t>Problem Statement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52072" y="4324783"/>
            <a:ext cx="7446222" cy="3190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3"/>
              </a:lnSpc>
              <a:spcBef>
                <a:spcPct val="0"/>
              </a:spcBef>
            </a:pP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C</a:t>
            </a: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urrently, many SMEs (Small and Medium-sized Enterprises), startups, students, and educational teams face difficulties managing projects efficiently due to:</a:t>
            </a:r>
          </a:p>
          <a:p>
            <a:pPr algn="l" marL="436916" indent="-218458" lvl="1">
              <a:lnSpc>
                <a:spcPts val="2833"/>
              </a:lnSpc>
              <a:buFont typeface="Arial"/>
              <a:buChar char="•"/>
            </a:pP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Cos</a:t>
            </a: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tly Tools: Platforms like Jira, Notion, or others have premium plans that are inaccessible for small budgets.</a:t>
            </a:r>
          </a:p>
          <a:p>
            <a:pPr algn="l" marL="436916" indent="-218458" lvl="1">
              <a:lnSpc>
                <a:spcPts val="2833"/>
              </a:lnSpc>
              <a:buFont typeface="Arial"/>
              <a:buChar char="•"/>
            </a:pP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Complexity: Overloaded interfaces that require prolonged training.</a:t>
            </a:r>
          </a:p>
          <a:p>
            <a:pPr algn="l" marL="436916" indent="-218458" lvl="1">
              <a:lnSpc>
                <a:spcPts val="2833"/>
              </a:lnSpc>
              <a:buFont typeface="Arial"/>
              <a:buChar char="•"/>
            </a:pP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Lack of Automation: Repetitive tasks (documentation, descriptions) consume valuable time.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-870776" y="-1551584"/>
            <a:ext cx="5482615" cy="4231373"/>
            <a:chOff x="0" y="0"/>
            <a:chExt cx="905432" cy="69879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05432" cy="698795"/>
            </a:xfrm>
            <a:custGeom>
              <a:avLst/>
              <a:gdLst/>
              <a:ahLst/>
              <a:cxnLst/>
              <a:rect r="r" b="b" t="t" l="l"/>
              <a:pathLst>
                <a:path h="698795" w="905432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7"/>
              <a:stretch>
                <a:fillRect l="-17658" t="0" r="-17658" b="0"/>
              </a:stretch>
            </a:blipFill>
          </p:spPr>
        </p:sp>
      </p:grpSp>
    </p:spTree>
  </p:cSld>
  <p:clrMapOvr>
    <a:masterClrMapping/>
  </p:clrMapOvr>
  <p:transition spd="slow">
    <p:push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10443846" y="0"/>
            <a:ext cx="7844154" cy="7850697"/>
          </a:xfrm>
          <a:custGeom>
            <a:avLst/>
            <a:gdLst/>
            <a:ahLst/>
            <a:cxnLst/>
            <a:rect r="r" b="b" t="t" l="l"/>
            <a:pathLst>
              <a:path h="7850697" w="7844154">
                <a:moveTo>
                  <a:pt x="0" y="0"/>
                </a:moveTo>
                <a:lnTo>
                  <a:pt x="7844154" y="0"/>
                </a:lnTo>
                <a:lnTo>
                  <a:pt x="7844154" y="7850697"/>
                </a:lnTo>
                <a:lnTo>
                  <a:pt x="0" y="7850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954668" y="1794822"/>
            <a:ext cx="8887591" cy="5456315"/>
            <a:chOff x="0" y="0"/>
            <a:chExt cx="932330" cy="57238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32330" cy="572381"/>
            </a:xfrm>
            <a:custGeom>
              <a:avLst/>
              <a:gdLst/>
              <a:ahLst/>
              <a:cxnLst/>
              <a:rect r="r" b="b" t="t" l="l"/>
              <a:pathLst>
                <a:path h="572381" w="932330">
                  <a:moveTo>
                    <a:pt x="20035" y="0"/>
                  </a:moveTo>
                  <a:lnTo>
                    <a:pt x="912295" y="0"/>
                  </a:lnTo>
                  <a:cubicBezTo>
                    <a:pt x="917609" y="0"/>
                    <a:pt x="922705" y="2111"/>
                    <a:pt x="926462" y="5868"/>
                  </a:cubicBezTo>
                  <a:cubicBezTo>
                    <a:pt x="930219" y="9625"/>
                    <a:pt x="932330" y="14721"/>
                    <a:pt x="932330" y="20035"/>
                  </a:cubicBezTo>
                  <a:lnTo>
                    <a:pt x="932330" y="552346"/>
                  </a:lnTo>
                  <a:cubicBezTo>
                    <a:pt x="932330" y="557659"/>
                    <a:pt x="930219" y="562755"/>
                    <a:pt x="926462" y="566513"/>
                  </a:cubicBezTo>
                  <a:cubicBezTo>
                    <a:pt x="922705" y="570270"/>
                    <a:pt x="917609" y="572381"/>
                    <a:pt x="912295" y="572381"/>
                  </a:cubicBezTo>
                  <a:lnTo>
                    <a:pt x="20035" y="572381"/>
                  </a:lnTo>
                  <a:cubicBezTo>
                    <a:pt x="14721" y="572381"/>
                    <a:pt x="9625" y="570270"/>
                    <a:pt x="5868" y="566513"/>
                  </a:cubicBezTo>
                  <a:cubicBezTo>
                    <a:pt x="2111" y="562755"/>
                    <a:pt x="0" y="557659"/>
                    <a:pt x="0" y="552346"/>
                  </a:cubicBezTo>
                  <a:lnTo>
                    <a:pt x="0" y="20035"/>
                  </a:lnTo>
                  <a:cubicBezTo>
                    <a:pt x="0" y="14721"/>
                    <a:pt x="2111" y="9625"/>
                    <a:pt x="5868" y="5868"/>
                  </a:cubicBezTo>
                  <a:cubicBezTo>
                    <a:pt x="9625" y="2111"/>
                    <a:pt x="14721" y="0"/>
                    <a:pt x="20035" y="0"/>
                  </a:cubicBezTo>
                  <a:close/>
                </a:path>
              </a:pathLst>
            </a:custGeom>
            <a:blipFill>
              <a:blip r:embed="rId4"/>
              <a:stretch>
                <a:fillRect l="-18353" t="-14977" r="-19260" b="-11109"/>
              </a:stretch>
            </a:blipFill>
          </p:spPr>
        </p:sp>
      </p:grpSp>
      <p:sp>
        <p:nvSpPr>
          <p:cNvPr name="AutoShape 5" id="5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cap="flat" w="19050">
            <a:solidFill>
              <a:srgbClr val="00BB1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6" id="6"/>
          <p:cNvSpPr/>
          <p:nvPr/>
        </p:nvSpPr>
        <p:spPr>
          <a:xfrm flipH="false" flipV="false" rot="5400000">
            <a:off x="6873041" y="1712674"/>
            <a:ext cx="780172" cy="2569428"/>
          </a:xfrm>
          <a:custGeom>
            <a:avLst/>
            <a:gdLst/>
            <a:ahLst/>
            <a:cxnLst/>
            <a:rect r="r" b="b" t="t" l="l"/>
            <a:pathLst>
              <a:path h="2569428" w="780172">
                <a:moveTo>
                  <a:pt x="0" y="0"/>
                </a:moveTo>
                <a:lnTo>
                  <a:pt x="780171" y="0"/>
                </a:lnTo>
                <a:lnTo>
                  <a:pt x="780171" y="2569427"/>
                </a:lnTo>
                <a:lnTo>
                  <a:pt x="0" y="256942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9017" y="2312355"/>
            <a:ext cx="5818947" cy="10751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55"/>
              </a:lnSpc>
            </a:pPr>
            <a:r>
              <a:rPr lang="en-US" sz="8617" spc="-68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Solution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50354" y="3856164"/>
            <a:ext cx="7518823" cy="5999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Our purpose is to d</a:t>
            </a: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esign and develop an intelligent Kanban manager with AI integration that is accessible, automated, and adapted to the Latin American market.</a:t>
            </a:r>
          </a:p>
          <a:p>
            <a:pPr algn="l">
              <a:lnSpc>
                <a:spcPts val="3219"/>
              </a:lnSpc>
            </a:pPr>
          </a:p>
          <a:p>
            <a:pPr algn="l">
              <a:lnSpc>
                <a:spcPts val="3219"/>
              </a:lnSpc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It is justified because:</a:t>
            </a:r>
          </a:p>
          <a:p>
            <a:pPr algn="l" marL="496569" indent="-248284" lvl="1">
              <a:lnSpc>
                <a:spcPts val="3219"/>
              </a:lnSpc>
              <a:buFont typeface="Arial"/>
              <a:buChar char="•"/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It addresses the lack of accessible and usable tools for small organizations.</a:t>
            </a:r>
          </a:p>
          <a:p>
            <a:pPr algn="l" marL="496569" indent="-248284" lvl="1">
              <a:lnSpc>
                <a:spcPts val="3219"/>
              </a:lnSpc>
              <a:buFont typeface="Arial"/>
              <a:buChar char="•"/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It o</a:t>
            </a: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ffers a simple interface in Spanish, reducing the barrier to entry.</a:t>
            </a:r>
          </a:p>
          <a:p>
            <a:pPr algn="l" marL="496569" indent="-248284" lvl="1">
              <a:lnSpc>
                <a:spcPts val="3219"/>
              </a:lnSpc>
              <a:buFont typeface="Arial"/>
              <a:buChar char="•"/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It includes AI to automate tasks such as project documentation.</a:t>
            </a:r>
          </a:p>
          <a:p>
            <a:pPr algn="l" marL="496569" indent="-248284" lvl="1">
              <a:lnSpc>
                <a:spcPts val="3219"/>
              </a:lnSpc>
              <a:buFont typeface="Arial"/>
              <a:buChar char="•"/>
            </a:pPr>
          </a:p>
          <a:p>
            <a:pPr algn="l">
              <a:lnSpc>
                <a:spcPts val="3219"/>
              </a:lnSpc>
            </a:pPr>
          </a:p>
          <a:p>
            <a:pPr algn="l">
              <a:lnSpc>
                <a:spcPts val="3219"/>
              </a:lnSpc>
            </a:pPr>
          </a:p>
          <a:p>
            <a:pPr algn="l">
              <a:lnSpc>
                <a:spcPts val="3219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5074730" y="9407969"/>
            <a:ext cx="2184059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272727"/>
                </a:solidFill>
                <a:latin typeface="Public Sans"/>
                <a:ea typeface="Public Sans"/>
                <a:cs typeface="Public Sans"/>
                <a:sym typeface="Public Sans"/>
              </a:rPr>
              <a:t>Thynk Unlimited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-507891" y="-1283364"/>
            <a:ext cx="5482615" cy="4231373"/>
            <a:chOff x="0" y="0"/>
            <a:chExt cx="905432" cy="69879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05432" cy="698795"/>
            </a:xfrm>
            <a:custGeom>
              <a:avLst/>
              <a:gdLst/>
              <a:ahLst/>
              <a:cxnLst/>
              <a:rect r="r" b="b" t="t" l="l"/>
              <a:pathLst>
                <a:path h="698795" w="905432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7"/>
              <a:stretch>
                <a:fillRect l="-17658" t="0" r="-17658" b="0"/>
              </a:stretch>
            </a:blipFill>
          </p:spPr>
        </p:sp>
      </p:grpSp>
    </p:spTree>
  </p:cSld>
  <p:clrMapOvr>
    <a:masterClrMapping/>
  </p:clrMapOvr>
  <p:transition spd="slow">
    <p:push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60395" y="3911219"/>
            <a:ext cx="1879267" cy="1879267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37508" lIns="37508" bIns="37508" rIns="37508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525405" y="3907459"/>
            <a:ext cx="1883026" cy="1883026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37508" lIns="37508" bIns="37508" rIns="37508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516583" y="6472721"/>
            <a:ext cx="1897654" cy="1897654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38770" lIns="38770" bIns="38770" rIns="3877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860395" y="6524271"/>
            <a:ext cx="1881654" cy="1881654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37508" lIns="37508" bIns="37508" rIns="37508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7323829" y="4195991"/>
            <a:ext cx="952399" cy="1411913"/>
          </a:xfrm>
          <a:custGeom>
            <a:avLst/>
            <a:gdLst/>
            <a:ahLst/>
            <a:cxnLst/>
            <a:rect r="r" b="b" t="t" l="l"/>
            <a:pathLst>
              <a:path h="1411913" w="952399">
                <a:moveTo>
                  <a:pt x="0" y="0"/>
                </a:moveTo>
                <a:lnTo>
                  <a:pt x="952400" y="0"/>
                </a:lnTo>
                <a:lnTo>
                  <a:pt x="952400" y="1411913"/>
                </a:lnTo>
                <a:lnTo>
                  <a:pt x="0" y="14119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0009650" y="4312945"/>
            <a:ext cx="973317" cy="1112940"/>
          </a:xfrm>
          <a:custGeom>
            <a:avLst/>
            <a:gdLst/>
            <a:ahLst/>
            <a:cxnLst/>
            <a:rect r="r" b="b" t="t" l="l"/>
            <a:pathLst>
              <a:path h="1112940" w="973317">
                <a:moveTo>
                  <a:pt x="0" y="0"/>
                </a:moveTo>
                <a:lnTo>
                  <a:pt x="973317" y="0"/>
                </a:lnTo>
                <a:lnTo>
                  <a:pt x="973317" y="1112941"/>
                </a:lnTo>
                <a:lnTo>
                  <a:pt x="0" y="11129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7275352" y="6848491"/>
            <a:ext cx="1049354" cy="1233215"/>
          </a:xfrm>
          <a:custGeom>
            <a:avLst/>
            <a:gdLst/>
            <a:ahLst/>
            <a:cxnLst/>
            <a:rect r="r" b="b" t="t" l="l"/>
            <a:pathLst>
              <a:path h="1233215" w="1049354">
                <a:moveTo>
                  <a:pt x="0" y="0"/>
                </a:moveTo>
                <a:lnTo>
                  <a:pt x="1049354" y="0"/>
                </a:lnTo>
                <a:lnTo>
                  <a:pt x="1049354" y="1233215"/>
                </a:lnTo>
                <a:lnTo>
                  <a:pt x="0" y="12332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-10800000">
            <a:off x="11522718" y="0"/>
            <a:ext cx="6765282" cy="6770925"/>
          </a:xfrm>
          <a:custGeom>
            <a:avLst/>
            <a:gdLst/>
            <a:ahLst/>
            <a:cxnLst/>
            <a:rect r="r" b="b" t="t" l="l"/>
            <a:pathLst>
              <a:path h="6770925" w="6765282">
                <a:moveTo>
                  <a:pt x="0" y="0"/>
                </a:moveTo>
                <a:lnTo>
                  <a:pt x="6765282" y="0"/>
                </a:lnTo>
                <a:lnTo>
                  <a:pt x="6765282" y="6770925"/>
                </a:lnTo>
                <a:lnTo>
                  <a:pt x="0" y="677092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2232289" y="1512389"/>
            <a:ext cx="13049141" cy="1191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081"/>
              </a:lnSpc>
            </a:pPr>
            <a:r>
              <a:rPr lang="en-US" b="true" sz="8817" spc="3050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OBJECTIVES</a:t>
            </a:r>
          </a:p>
        </p:txBody>
      </p:sp>
      <p:sp>
        <p:nvSpPr>
          <p:cNvPr name="AutoShape 19" id="19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cap="flat" w="19050">
            <a:solidFill>
              <a:srgbClr val="00BB1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0" id="20"/>
          <p:cNvGrpSpPr/>
          <p:nvPr/>
        </p:nvGrpSpPr>
        <p:grpSpPr>
          <a:xfrm rot="0">
            <a:off x="-507891" y="-1283364"/>
            <a:ext cx="5480359" cy="4229632"/>
            <a:chOff x="0" y="0"/>
            <a:chExt cx="905432" cy="69879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905432" cy="698795"/>
            </a:xfrm>
            <a:custGeom>
              <a:avLst/>
              <a:gdLst/>
              <a:ahLst/>
              <a:cxnLst/>
              <a:rect r="r" b="b" t="t" l="l"/>
              <a:pathLst>
                <a:path h="698795" w="905432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10"/>
              <a:stretch>
                <a:fillRect l="-17658" t="0" r="-17658" b="0"/>
              </a:stretch>
            </a:blipFill>
          </p:spPr>
        </p:sp>
      </p:grpSp>
      <p:sp>
        <p:nvSpPr>
          <p:cNvPr name="Freeform 22" id="22"/>
          <p:cNvSpPr/>
          <p:nvPr/>
        </p:nvSpPr>
        <p:spPr>
          <a:xfrm flipH="false" flipV="false" rot="0">
            <a:off x="9822496" y="6884863"/>
            <a:ext cx="1160471" cy="1160471"/>
          </a:xfrm>
          <a:custGeom>
            <a:avLst/>
            <a:gdLst/>
            <a:ahLst/>
            <a:cxnLst/>
            <a:rect r="r" b="b" t="t" l="l"/>
            <a:pathLst>
              <a:path h="1160471" w="1160471">
                <a:moveTo>
                  <a:pt x="0" y="0"/>
                </a:moveTo>
                <a:lnTo>
                  <a:pt x="1160471" y="0"/>
                </a:lnTo>
                <a:lnTo>
                  <a:pt x="1160471" y="1160471"/>
                </a:lnTo>
                <a:lnTo>
                  <a:pt x="0" y="116047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2594183" y="3513879"/>
            <a:ext cx="3071543" cy="348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6"/>
              </a:lnSpc>
              <a:spcBef>
                <a:spcPct val="0"/>
              </a:spcBef>
            </a:pPr>
            <a:r>
              <a:rPr lang="en-US" b="true" sz="2011" spc="-46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01. Accessibility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939939" y="3513879"/>
            <a:ext cx="3418129" cy="348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6"/>
              </a:lnSpc>
              <a:spcBef>
                <a:spcPct val="0"/>
              </a:spcBef>
            </a:pPr>
            <a:r>
              <a:rPr lang="en-US" b="true" sz="2011" spc="-46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03. Scalability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998949" y="6421974"/>
            <a:ext cx="3359119" cy="348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6"/>
              </a:lnSpc>
              <a:spcBef>
                <a:spcPct val="0"/>
              </a:spcBef>
            </a:pPr>
            <a:r>
              <a:rPr lang="en-US" b="true" sz="2011" spc="-46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04. Automation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594183" y="6421974"/>
            <a:ext cx="3071543" cy="348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6"/>
              </a:lnSpc>
              <a:spcBef>
                <a:spcPct val="0"/>
              </a:spcBef>
            </a:pPr>
            <a:r>
              <a:rPr lang="en-US" b="true" sz="2011" spc="-46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02. Organization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594183" y="4005731"/>
            <a:ext cx="2689114" cy="137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9"/>
              </a:lnSpc>
            </a:pPr>
            <a:r>
              <a:rPr lang="en-US" sz="1645">
                <a:solidFill>
                  <a:srgbClr val="FFFFFF"/>
                </a:solidFill>
                <a:latin typeface="Open Sans 1"/>
                <a:ea typeface="Open Sans 1"/>
                <a:cs typeface="Open Sans 1"/>
                <a:sym typeface="Open Sans 1"/>
              </a:rPr>
              <a:t>To offer an accessible platform with an intuitive interface to reduce (or simplify) large amounts of information.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594183" y="7067664"/>
            <a:ext cx="2933584" cy="1071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9"/>
              </a:lnSpc>
            </a:pPr>
            <a:r>
              <a:rPr lang="en-US" sz="1645">
                <a:solidFill>
                  <a:srgbClr val="FFFFFF"/>
                </a:solidFill>
                <a:latin typeface="Open Sans 1"/>
                <a:ea typeface="Open Sans 1"/>
                <a:cs typeface="Open Sans 1"/>
                <a:sym typeface="Open Sans 1"/>
              </a:rPr>
              <a:t>To facilitate the management of tasks, roles, permissions, and workflows using an intuitive Kanban board.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939939" y="4005731"/>
            <a:ext cx="2699178" cy="161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9"/>
              </a:lnSpc>
            </a:pPr>
            <a:r>
              <a:rPr lang="en-US" sz="1645">
                <a:solidFill>
                  <a:srgbClr val="FFFFFF"/>
                </a:solidFill>
                <a:latin typeface="Open Sans 1"/>
                <a:ea typeface="Open Sans 1"/>
                <a:cs typeface="Open Sans 1"/>
                <a:sym typeface="Open Sans 1"/>
              </a:rPr>
              <a:t>To deliver a functional MVP (Minimum Viable Product) that can evolve in the future with more functionalities and integrations.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998949" y="7067664"/>
            <a:ext cx="2787064" cy="134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9"/>
              </a:lnSpc>
            </a:pPr>
            <a:r>
              <a:rPr lang="en-US" sz="1645">
                <a:solidFill>
                  <a:srgbClr val="FFFFFF"/>
                </a:solidFill>
                <a:latin typeface="Open Sans 1"/>
                <a:ea typeface="Open Sans 1"/>
                <a:cs typeface="Open Sans 1"/>
                <a:sym typeface="Open Sans 1"/>
              </a:rPr>
              <a:t>To use AI to automate repetitive tasks such as document generation, progress tracking, or information summarization.</a:t>
            </a:r>
          </a:p>
        </p:txBody>
      </p:sp>
    </p:spTree>
  </p:cSld>
  <p:clrMapOvr>
    <a:masterClrMapping/>
  </p:clrMapOvr>
  <p:transition spd="slow">
    <p:push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cap="flat" w="19050">
            <a:solidFill>
              <a:srgbClr val="00BB1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8249950" y="1028700"/>
            <a:ext cx="9009350" cy="3627800"/>
            <a:chOff x="0" y="0"/>
            <a:chExt cx="1395784" cy="56204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395784" cy="562041"/>
            </a:xfrm>
            <a:custGeom>
              <a:avLst/>
              <a:gdLst/>
              <a:ahLst/>
              <a:cxnLst/>
              <a:rect r="r" b="b" t="t" l="l"/>
              <a:pathLst>
                <a:path h="562041" w="1395784">
                  <a:moveTo>
                    <a:pt x="19764" y="0"/>
                  </a:moveTo>
                  <a:lnTo>
                    <a:pt x="1376020" y="0"/>
                  </a:lnTo>
                  <a:cubicBezTo>
                    <a:pt x="1381262" y="0"/>
                    <a:pt x="1386289" y="2082"/>
                    <a:pt x="1389995" y="5789"/>
                  </a:cubicBezTo>
                  <a:cubicBezTo>
                    <a:pt x="1393702" y="9495"/>
                    <a:pt x="1395784" y="14523"/>
                    <a:pt x="1395784" y="19764"/>
                  </a:cubicBezTo>
                  <a:lnTo>
                    <a:pt x="1395784" y="542277"/>
                  </a:lnTo>
                  <a:cubicBezTo>
                    <a:pt x="1395784" y="547519"/>
                    <a:pt x="1393702" y="552546"/>
                    <a:pt x="1389995" y="556252"/>
                  </a:cubicBezTo>
                  <a:cubicBezTo>
                    <a:pt x="1386289" y="559959"/>
                    <a:pt x="1381262" y="562041"/>
                    <a:pt x="1376020" y="562041"/>
                  </a:cubicBezTo>
                  <a:lnTo>
                    <a:pt x="19764" y="562041"/>
                  </a:lnTo>
                  <a:cubicBezTo>
                    <a:pt x="14523" y="562041"/>
                    <a:pt x="9495" y="559959"/>
                    <a:pt x="5789" y="556252"/>
                  </a:cubicBezTo>
                  <a:cubicBezTo>
                    <a:pt x="2082" y="552546"/>
                    <a:pt x="0" y="547519"/>
                    <a:pt x="0" y="542277"/>
                  </a:cubicBezTo>
                  <a:lnTo>
                    <a:pt x="0" y="19764"/>
                  </a:lnTo>
                  <a:cubicBezTo>
                    <a:pt x="0" y="14523"/>
                    <a:pt x="2082" y="9495"/>
                    <a:pt x="5789" y="5789"/>
                  </a:cubicBezTo>
                  <a:cubicBezTo>
                    <a:pt x="9495" y="2082"/>
                    <a:pt x="14523" y="0"/>
                    <a:pt x="19764" y="0"/>
                  </a:cubicBezTo>
                  <a:close/>
                </a:path>
              </a:pathLst>
            </a:custGeom>
            <a:blipFill>
              <a:blip r:embed="rId2"/>
              <a:stretch>
                <a:fillRect l="-2065" t="-38771" r="0" b="-33589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-2612704" y="3487610"/>
            <a:ext cx="5782737" cy="5770690"/>
          </a:xfrm>
          <a:custGeom>
            <a:avLst/>
            <a:gdLst/>
            <a:ahLst/>
            <a:cxnLst/>
            <a:rect r="r" b="b" t="t" l="l"/>
            <a:pathLst>
              <a:path h="5770690" w="5782737">
                <a:moveTo>
                  <a:pt x="0" y="0"/>
                </a:moveTo>
                <a:lnTo>
                  <a:pt x="5782737" y="0"/>
                </a:lnTo>
                <a:lnTo>
                  <a:pt x="5782737" y="5770690"/>
                </a:lnTo>
                <a:lnTo>
                  <a:pt x="0" y="577069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619052" y="2348144"/>
            <a:ext cx="826601" cy="828107"/>
          </a:xfrm>
          <a:custGeom>
            <a:avLst/>
            <a:gdLst/>
            <a:ahLst/>
            <a:cxnLst/>
            <a:rect r="r" b="b" t="t" l="l"/>
            <a:pathLst>
              <a:path h="828107" w="826601">
                <a:moveTo>
                  <a:pt x="0" y="0"/>
                </a:moveTo>
                <a:lnTo>
                  <a:pt x="826601" y="0"/>
                </a:lnTo>
                <a:lnTo>
                  <a:pt x="826601" y="828106"/>
                </a:lnTo>
                <a:lnTo>
                  <a:pt x="0" y="82810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707716" y="2104988"/>
            <a:ext cx="6043800" cy="1071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55"/>
              </a:lnSpc>
            </a:pPr>
            <a:r>
              <a:rPr lang="en-US" sz="8617" spc="-68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Project Scope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249950" y="5266100"/>
            <a:ext cx="9658497" cy="398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The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project covers: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250461" y="8541701"/>
            <a:ext cx="5506399" cy="398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Estimated</a:t>
            </a:r>
            <a:r>
              <a:rPr lang="en-US" sz="229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duration: 5 months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250461" y="5703750"/>
            <a:ext cx="9008839" cy="2799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96569" indent="-248284" lvl="1">
              <a:lnSpc>
                <a:spcPts val="3219"/>
              </a:lnSpc>
              <a:buFont typeface="Arial"/>
              <a:buChar char="•"/>
            </a:pP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Kanban 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Board with basi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c func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t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ionali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ti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es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.</a:t>
            </a:r>
          </a:p>
          <a:p>
            <a:pPr algn="just" marL="496569" indent="-248284" lvl="1">
              <a:lnSpc>
                <a:spcPts val="3219"/>
              </a:lnSpc>
              <a:buFont typeface="Arial"/>
              <a:buChar char="•"/>
            </a:pP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D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i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fferenti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ted u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s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er r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oles 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and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permissions.</a:t>
            </a:r>
          </a:p>
          <a:p>
            <a:pPr algn="just" marL="496569" indent="-248284" lvl="1">
              <a:lnSpc>
                <a:spcPts val="3219"/>
              </a:lnSpc>
              <a:buFont typeface="Arial"/>
              <a:buChar char="•"/>
            </a:pP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Data e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xport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and 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per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s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onalized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tem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plat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e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s 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(o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r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cu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s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t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o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m temp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la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te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s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)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.</a:t>
            </a:r>
          </a:p>
          <a:p>
            <a:pPr algn="just" marL="496569" indent="-248284" lvl="1">
              <a:lnSpc>
                <a:spcPts val="3219"/>
              </a:lnSpc>
              <a:buFont typeface="Arial"/>
              <a:buChar char="•"/>
            </a:pP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Us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er 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i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nte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r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ct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io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n</a:t>
            </a: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.</a:t>
            </a:r>
          </a:p>
          <a:p>
            <a:pPr algn="just" marL="496569" indent="-248284" lvl="1">
              <a:lnSpc>
                <a:spcPts val="3219"/>
              </a:lnSpc>
              <a:buFont typeface="Arial"/>
              <a:buChar char="•"/>
            </a:pP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AI implementation.</a:t>
            </a:r>
          </a:p>
          <a:p>
            <a:pPr algn="just" marL="496569" indent="-248284" lvl="1">
              <a:lnSpc>
                <a:spcPts val="3219"/>
              </a:lnSpc>
              <a:buFont typeface="Arial"/>
              <a:buChar char="•"/>
            </a:pPr>
            <a:r>
              <a:rPr lang="en-US" sz="2299" strike="noStrike" u="non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Real-time data visualization (Dashboard).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-507891" y="-1283364"/>
            <a:ext cx="5482615" cy="4231373"/>
            <a:chOff x="0" y="0"/>
            <a:chExt cx="905432" cy="69879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05432" cy="698795"/>
            </a:xfrm>
            <a:custGeom>
              <a:avLst/>
              <a:gdLst/>
              <a:ahLst/>
              <a:cxnLst/>
              <a:rect r="r" b="b" t="t" l="l"/>
              <a:pathLst>
                <a:path h="698795" w="905432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7"/>
              <a:stretch>
                <a:fillRect l="-17658" t="0" r="-17658" b="0"/>
              </a:stretch>
            </a:blipFill>
          </p:spPr>
        </p:sp>
      </p:grpSp>
    </p:spTree>
  </p:cSld>
  <p:clrMapOvr>
    <a:masterClrMapping/>
  </p:clrMapOvr>
  <p:transition spd="slow">
    <p:push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3657531"/>
            <a:ext cx="18463506" cy="9525"/>
          </a:xfrm>
          <a:prstGeom prst="line">
            <a:avLst/>
          </a:prstGeom>
          <a:ln cap="flat" w="19050">
            <a:solidFill>
              <a:srgbClr val="00BB1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-2463083" y="3956371"/>
            <a:ext cx="5782737" cy="5770690"/>
          </a:xfrm>
          <a:custGeom>
            <a:avLst/>
            <a:gdLst/>
            <a:ahLst/>
            <a:cxnLst/>
            <a:rect r="r" b="b" t="t" l="l"/>
            <a:pathLst>
              <a:path h="5770690" w="5782737">
                <a:moveTo>
                  <a:pt x="0" y="0"/>
                </a:moveTo>
                <a:lnTo>
                  <a:pt x="5782738" y="0"/>
                </a:lnTo>
                <a:lnTo>
                  <a:pt x="5782738" y="5770690"/>
                </a:lnTo>
                <a:lnTo>
                  <a:pt x="0" y="57706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619052" y="2348144"/>
            <a:ext cx="826601" cy="828107"/>
          </a:xfrm>
          <a:custGeom>
            <a:avLst/>
            <a:gdLst/>
            <a:ahLst/>
            <a:cxnLst/>
            <a:rect r="r" b="b" t="t" l="l"/>
            <a:pathLst>
              <a:path h="828107" w="826601">
                <a:moveTo>
                  <a:pt x="0" y="0"/>
                </a:moveTo>
                <a:lnTo>
                  <a:pt x="826601" y="0"/>
                </a:lnTo>
                <a:lnTo>
                  <a:pt x="826601" y="828106"/>
                </a:lnTo>
                <a:lnTo>
                  <a:pt x="0" y="8281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8460596" y="2586269"/>
            <a:ext cx="6043800" cy="1071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55"/>
              </a:lnSpc>
            </a:pPr>
            <a:r>
              <a:rPr lang="en-US" sz="8617" spc="-68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Limitations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-507891" y="-1283364"/>
            <a:ext cx="5482615" cy="4231373"/>
            <a:chOff x="0" y="0"/>
            <a:chExt cx="905432" cy="69879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05432" cy="698795"/>
            </a:xfrm>
            <a:custGeom>
              <a:avLst/>
              <a:gdLst/>
              <a:ahLst/>
              <a:cxnLst/>
              <a:rect r="r" b="b" t="t" l="l"/>
              <a:pathLst>
                <a:path h="698795" w="905432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6"/>
              <a:stretch>
                <a:fillRect l="-17658" t="0" r="-17658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6853343" y="4070786"/>
            <a:ext cx="4629153" cy="21199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spc="-55" b="true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01. Extremely Tight Schedule</a:t>
            </a:r>
          </a:p>
          <a:p>
            <a:pPr algn="l" marL="520701" indent="-260350" lvl="1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Very tight time frame for some members.</a:t>
            </a:r>
          </a:p>
          <a:p>
            <a:pPr algn="l">
              <a:lnSpc>
                <a:spcPts val="3376"/>
              </a:lnSpc>
            </a:pPr>
          </a:p>
          <a:p>
            <a:pPr algn="l">
              <a:lnSpc>
                <a:spcPts val="3376"/>
              </a:lnSpc>
              <a:spcBef>
                <a:spcPct val="0"/>
              </a:spcBef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6853343" y="7028806"/>
            <a:ext cx="4495200" cy="2548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spc="-55" b="true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03. Technical Complexity</a:t>
            </a:r>
          </a:p>
          <a:p>
            <a:pPr algn="l" marL="520701" indent="-260350" lvl="1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Simultaneous AI + Kanban integration.</a:t>
            </a:r>
          </a:p>
          <a:p>
            <a:pPr algn="l" marL="520701" indent="-260350" lvl="1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Learning curve for Angular, PrismaDB, and Docker.</a:t>
            </a:r>
          </a:p>
          <a:p>
            <a:pPr algn="l">
              <a:lnSpc>
                <a:spcPts val="3376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11882546" y="3918271"/>
            <a:ext cx="4417596" cy="21199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spc="-55" b="true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04. Team Coordination</a:t>
            </a:r>
          </a:p>
          <a:p>
            <a:pPr algn="l" marL="520701" indent="-260350" lvl="1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4 different roles (Dev, PO, Scrum Master, QA).</a:t>
            </a:r>
          </a:p>
          <a:p>
            <a:pPr algn="l" marL="520701" indent="-260350" lvl="1">
              <a:lnSpc>
                <a:spcPts val="3376"/>
              </a:lnSpc>
              <a:spcBef>
                <a:spcPct val="0"/>
              </a:spcBef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Constant communication required.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853343" y="5579000"/>
            <a:ext cx="4039404" cy="1262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spc="-55" b="true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02.  Limited Resources</a:t>
            </a:r>
          </a:p>
          <a:p>
            <a:pPr algn="l" marL="520701" indent="-260350" lvl="1">
              <a:lnSpc>
                <a:spcPts val="3376"/>
              </a:lnSpc>
              <a:spcBef>
                <a:spcPct val="0"/>
              </a:spcBef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Free APIs with restrictions.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882546" y="6257288"/>
            <a:ext cx="4417596" cy="21199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spc="-55" b="true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05. Reduced Scope</a:t>
            </a:r>
          </a:p>
          <a:p>
            <a:pPr algn="l" marL="520701" indent="-260350" lvl="1">
              <a:lnSpc>
                <a:spcPts val="3376"/>
              </a:lnSpc>
              <a:spcBef>
                <a:spcPct val="0"/>
              </a:spcBef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Does not include: external integrations, BI (Business Intelligence), push notifications.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882546" y="8443790"/>
            <a:ext cx="4495200" cy="16913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spc="-55" b="true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06. Limited Validation</a:t>
            </a:r>
          </a:p>
          <a:p>
            <a:pPr algn="l" marL="520701" indent="-260350" lvl="1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Little time for feedback from real users.</a:t>
            </a:r>
          </a:p>
          <a:p>
            <a:pPr algn="l">
              <a:lnSpc>
                <a:spcPts val="3376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slow">
    <p:push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13061825" y="-835725"/>
            <a:ext cx="6339891" cy="6345178"/>
          </a:xfrm>
          <a:custGeom>
            <a:avLst/>
            <a:gdLst/>
            <a:ahLst/>
            <a:cxnLst/>
            <a:rect r="r" b="b" t="t" l="l"/>
            <a:pathLst>
              <a:path h="6345178" w="6339891">
                <a:moveTo>
                  <a:pt x="0" y="0"/>
                </a:moveTo>
                <a:lnTo>
                  <a:pt x="6339890" y="0"/>
                </a:lnTo>
                <a:lnTo>
                  <a:pt x="6339890" y="6345178"/>
                </a:lnTo>
                <a:lnTo>
                  <a:pt x="0" y="63451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061825" y="5509453"/>
            <a:ext cx="3039700" cy="3026191"/>
          </a:xfrm>
          <a:custGeom>
            <a:avLst/>
            <a:gdLst/>
            <a:ahLst/>
            <a:cxnLst/>
            <a:rect r="r" b="b" t="t" l="l"/>
            <a:pathLst>
              <a:path h="3026191" w="3039700">
                <a:moveTo>
                  <a:pt x="0" y="0"/>
                </a:moveTo>
                <a:lnTo>
                  <a:pt x="3039700" y="0"/>
                </a:lnTo>
                <a:lnTo>
                  <a:pt x="3039700" y="3026191"/>
                </a:lnTo>
                <a:lnTo>
                  <a:pt x="0" y="30261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889823" y="5537907"/>
            <a:ext cx="3038065" cy="2997737"/>
          </a:xfrm>
          <a:custGeom>
            <a:avLst/>
            <a:gdLst/>
            <a:ahLst/>
            <a:cxnLst/>
            <a:rect r="r" b="b" t="t" l="l"/>
            <a:pathLst>
              <a:path h="2997737" w="3038065">
                <a:moveTo>
                  <a:pt x="0" y="0"/>
                </a:moveTo>
                <a:lnTo>
                  <a:pt x="3038065" y="0"/>
                </a:lnTo>
                <a:lnTo>
                  <a:pt x="3038065" y="2997737"/>
                </a:lnTo>
                <a:lnTo>
                  <a:pt x="0" y="299773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422627" y="5509453"/>
            <a:ext cx="3119960" cy="3026191"/>
          </a:xfrm>
          <a:custGeom>
            <a:avLst/>
            <a:gdLst/>
            <a:ahLst/>
            <a:cxnLst/>
            <a:rect r="r" b="b" t="t" l="l"/>
            <a:pathLst>
              <a:path h="3026191" w="3119960">
                <a:moveTo>
                  <a:pt x="0" y="0"/>
                </a:moveTo>
                <a:lnTo>
                  <a:pt x="3119961" y="0"/>
                </a:lnTo>
                <a:lnTo>
                  <a:pt x="3119961" y="3026191"/>
                </a:lnTo>
                <a:lnTo>
                  <a:pt x="0" y="30261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36022" t="-7344" r="-25108" b="-3203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951980" y="4361896"/>
            <a:ext cx="4061255" cy="404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2"/>
              </a:lnSpc>
              <a:spcBef>
                <a:spcPct val="0"/>
              </a:spcBef>
            </a:pPr>
            <a:r>
              <a:rPr lang="en-US" b="true" sz="2451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SCRUM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043468" y="4349864"/>
            <a:ext cx="2710484" cy="387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2"/>
              </a:lnSpc>
              <a:spcBef>
                <a:spcPct val="0"/>
              </a:spcBef>
            </a:pPr>
            <a:r>
              <a:rPr lang="en-US" b="true" sz="2351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KANBAN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307241" y="4407135"/>
            <a:ext cx="2548868" cy="7975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2"/>
              </a:lnSpc>
              <a:spcBef>
                <a:spcPct val="0"/>
              </a:spcBef>
            </a:pPr>
            <a:r>
              <a:rPr lang="en-US" b="true" sz="2351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25010 AND  27001</a:t>
            </a:r>
          </a:p>
        </p:txBody>
      </p:sp>
      <p:sp>
        <p:nvSpPr>
          <p:cNvPr name="AutoShape 9" id="9"/>
          <p:cNvSpPr/>
          <p:nvPr/>
        </p:nvSpPr>
        <p:spPr>
          <a:xfrm>
            <a:off x="-209176" y="9258300"/>
            <a:ext cx="18931484" cy="0"/>
          </a:xfrm>
          <a:prstGeom prst="line">
            <a:avLst/>
          </a:prstGeom>
          <a:ln cap="flat" w="19050">
            <a:solidFill>
              <a:srgbClr val="00BB1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-507891" y="-1267063"/>
            <a:ext cx="5480359" cy="4229632"/>
            <a:chOff x="0" y="0"/>
            <a:chExt cx="905432" cy="69879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05432" cy="698795"/>
            </a:xfrm>
            <a:custGeom>
              <a:avLst/>
              <a:gdLst/>
              <a:ahLst/>
              <a:cxnLst/>
              <a:rect r="r" b="b" t="t" l="l"/>
              <a:pathLst>
                <a:path h="698795" w="905432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7"/>
              <a:stretch>
                <a:fillRect l="-17658" t="0" r="-17658" b="0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3768089" y="2602326"/>
            <a:ext cx="11822785" cy="1071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55"/>
              </a:lnSpc>
            </a:pPr>
            <a:r>
              <a:rPr lang="en-US" sz="8617" spc="-68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Applied Methodologies</a:t>
            </a:r>
          </a:p>
        </p:txBody>
      </p:sp>
    </p:spTree>
  </p:cSld>
  <p:clrMapOvr>
    <a:masterClrMapping/>
  </p:clrMapOvr>
  <p:transition spd="slow">
    <p:push dir="l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572389" y="321523"/>
            <a:ext cx="7959066" cy="8450746"/>
          </a:xfrm>
          <a:custGeom>
            <a:avLst/>
            <a:gdLst/>
            <a:ahLst/>
            <a:cxnLst/>
            <a:rect r="r" b="b" t="t" l="l"/>
            <a:pathLst>
              <a:path h="8450746" w="7959066">
                <a:moveTo>
                  <a:pt x="0" y="0"/>
                </a:moveTo>
                <a:lnTo>
                  <a:pt x="7959067" y="0"/>
                </a:lnTo>
                <a:lnTo>
                  <a:pt x="7959067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914023" y="5732347"/>
            <a:ext cx="1465883" cy="1468553"/>
          </a:xfrm>
          <a:custGeom>
            <a:avLst/>
            <a:gdLst/>
            <a:ahLst/>
            <a:cxnLst/>
            <a:rect r="r" b="b" t="t" l="l"/>
            <a:pathLst>
              <a:path h="1468553" w="146588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573068" y="2887925"/>
            <a:ext cx="11619208" cy="6626992"/>
          </a:xfrm>
          <a:custGeom>
            <a:avLst/>
            <a:gdLst/>
            <a:ahLst/>
            <a:cxnLst/>
            <a:rect r="r" b="b" t="t" l="l"/>
            <a:pathLst>
              <a:path h="6626992" w="11619208">
                <a:moveTo>
                  <a:pt x="0" y="0"/>
                </a:moveTo>
                <a:lnTo>
                  <a:pt x="11619209" y="0"/>
                </a:lnTo>
                <a:lnTo>
                  <a:pt x="11619209" y="6626991"/>
                </a:lnTo>
                <a:lnTo>
                  <a:pt x="0" y="66269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255188" y="2450949"/>
            <a:ext cx="13777625" cy="125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18"/>
              </a:lnSpc>
            </a:pPr>
            <a:r>
              <a:rPr lang="en-US" sz="11193" spc="-1119" b="true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Schedule / Timeline</a:t>
            </a:r>
          </a:p>
        </p:txBody>
      </p:sp>
    </p:spTree>
  </p:cSld>
  <p:clrMapOvr>
    <a:masterClrMapping/>
  </p:clrMapOvr>
  <p:transition spd="slow">
    <p:push dir="d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1888" r="0" b="-11888"/>
            </a:stretch>
          </a:blipFill>
        </p:spPr>
      </p:sp>
    </p:spTree>
  </p:cSld>
  <p:clrMapOvr>
    <a:masterClrMapping/>
  </p:clrMapOvr>
  <p:transition spd="slow">
    <p:push dir="l"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9223" t="0" r="-59223" b="0"/>
            </a:stretch>
          </a:blipFill>
        </p:spPr>
      </p:sp>
    </p:spTree>
  </p:cSld>
  <p:clrMapOvr>
    <a:masterClrMapping/>
  </p:clrMapOvr>
  <p:transition spd="slow">
    <p:push dir="u"/>
  </p:transition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2345427"/>
            <a:ext cx="18085389" cy="6912873"/>
          </a:xfrm>
          <a:custGeom>
            <a:avLst/>
            <a:gdLst/>
            <a:ahLst/>
            <a:cxnLst/>
            <a:rect r="r" b="b" t="t" l="l"/>
            <a:pathLst>
              <a:path h="6912873" w="18085389">
                <a:moveTo>
                  <a:pt x="0" y="0"/>
                </a:moveTo>
                <a:lnTo>
                  <a:pt x="18085389" y="0"/>
                </a:lnTo>
                <a:lnTo>
                  <a:pt x="18085389" y="6912873"/>
                </a:lnTo>
                <a:lnTo>
                  <a:pt x="0" y="69128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0983" t="-292" r="-1897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711315" y="-6105319"/>
            <a:ext cx="7959066" cy="8450746"/>
          </a:xfrm>
          <a:custGeom>
            <a:avLst/>
            <a:gdLst/>
            <a:ahLst/>
            <a:cxnLst/>
            <a:rect r="r" b="b" t="t" l="l"/>
            <a:pathLst>
              <a:path h="8450746" w="795906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-507891" y="-1267063"/>
            <a:ext cx="5480359" cy="4229632"/>
            <a:chOff x="0" y="0"/>
            <a:chExt cx="905432" cy="69879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05432" cy="698795"/>
            </a:xfrm>
            <a:custGeom>
              <a:avLst/>
              <a:gdLst/>
              <a:ahLst/>
              <a:cxnLst/>
              <a:rect r="r" b="b" t="t" l="l"/>
              <a:pathLst>
                <a:path h="698795" w="905432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5"/>
              <a:stretch>
                <a:fillRect l="-17658" t="0" r="-17658" b="0"/>
              </a:stretch>
            </a:blipFill>
          </p:spPr>
        </p:sp>
      </p:grpSp>
    </p:spTree>
  </p:cSld>
  <p:clrMapOvr>
    <a:masterClrMapping/>
  </p:clrMapOvr>
  <p:transition spd="slow">
    <p:push dir="u"/>
  </p:transition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10800000">
            <a:off x="-1635054" y="4663396"/>
            <a:ext cx="7418824" cy="7425012"/>
          </a:xfrm>
          <a:custGeom>
            <a:avLst/>
            <a:gdLst/>
            <a:ahLst/>
            <a:cxnLst/>
            <a:rect r="r" b="b" t="t" l="l"/>
            <a:pathLst>
              <a:path h="7425012" w="7418824">
                <a:moveTo>
                  <a:pt x="7418824" y="7425012"/>
                </a:moveTo>
                <a:lnTo>
                  <a:pt x="0" y="7425012"/>
                </a:lnTo>
                <a:lnTo>
                  <a:pt x="0" y="0"/>
                </a:lnTo>
                <a:lnTo>
                  <a:pt x="7418824" y="0"/>
                </a:lnTo>
                <a:lnTo>
                  <a:pt x="7418824" y="7425012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825415" y="4585267"/>
            <a:ext cx="824630" cy="824630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BB13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  <a:r>
                <a:rPr lang="en-US" b="true" sz="2299">
                  <a:solidFill>
                    <a:srgbClr val="283D60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01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83393" y="5018521"/>
            <a:ext cx="4521213" cy="4385469"/>
            <a:chOff x="0" y="0"/>
            <a:chExt cx="1190772" cy="115502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90772" cy="1155021"/>
            </a:xfrm>
            <a:custGeom>
              <a:avLst/>
              <a:gdLst/>
              <a:ahLst/>
              <a:cxnLst/>
              <a:rect r="r" b="b" t="t" l="l"/>
              <a:pathLst>
                <a:path h="1155021" w="1190772">
                  <a:moveTo>
                    <a:pt x="1190772" y="0"/>
                  </a:moveTo>
                  <a:lnTo>
                    <a:pt x="1190772" y="1040721"/>
                  </a:lnTo>
                  <a:lnTo>
                    <a:pt x="595386" y="1155021"/>
                  </a:lnTo>
                  <a:lnTo>
                    <a:pt x="0" y="1040721"/>
                  </a:lnTo>
                  <a:lnTo>
                    <a:pt x="0" y="0"/>
                  </a:lnTo>
                  <a:lnTo>
                    <a:pt x="1190772" y="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1190772" cy="10692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717220" y="4585267"/>
            <a:ext cx="824630" cy="824630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BB13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  <a:r>
                <a:rPr lang="en-US" b="true" sz="2299">
                  <a:solidFill>
                    <a:srgbClr val="283D60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02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1770805" y="5018521"/>
            <a:ext cx="4521213" cy="4385469"/>
            <a:chOff x="0" y="0"/>
            <a:chExt cx="1190772" cy="115502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190772" cy="1155021"/>
            </a:xfrm>
            <a:custGeom>
              <a:avLst/>
              <a:gdLst/>
              <a:ahLst/>
              <a:cxnLst/>
              <a:rect r="r" b="b" t="t" l="l"/>
              <a:pathLst>
                <a:path h="1155021" w="1190772">
                  <a:moveTo>
                    <a:pt x="1190772" y="0"/>
                  </a:moveTo>
                  <a:lnTo>
                    <a:pt x="1190772" y="1040721"/>
                  </a:lnTo>
                  <a:lnTo>
                    <a:pt x="595386" y="1155021"/>
                  </a:lnTo>
                  <a:lnTo>
                    <a:pt x="0" y="1040721"/>
                  </a:lnTo>
                  <a:lnTo>
                    <a:pt x="0" y="0"/>
                  </a:lnTo>
                  <a:lnTo>
                    <a:pt x="1190772" y="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190772" cy="10692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1604632" y="4606206"/>
            <a:ext cx="824630" cy="824630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BB13"/>
              </a:soli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  <a:r>
                <a:rPr lang="en-US" b="true" sz="2299">
                  <a:solidFill>
                    <a:srgbClr val="283D60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03</a:t>
              </a: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3949944" y="6260622"/>
            <a:ext cx="2294980" cy="1527205"/>
          </a:xfrm>
          <a:custGeom>
            <a:avLst/>
            <a:gdLst/>
            <a:ahLst/>
            <a:cxnLst/>
            <a:rect r="r" b="b" t="t" l="l"/>
            <a:pathLst>
              <a:path h="1527205" w="2294980">
                <a:moveTo>
                  <a:pt x="0" y="0"/>
                </a:moveTo>
                <a:lnTo>
                  <a:pt x="2294980" y="0"/>
                </a:lnTo>
                <a:lnTo>
                  <a:pt x="2294980" y="1527205"/>
                </a:lnTo>
                <a:lnTo>
                  <a:pt x="0" y="15272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3666556" y="6358459"/>
            <a:ext cx="2312839" cy="1527205"/>
          </a:xfrm>
          <a:custGeom>
            <a:avLst/>
            <a:gdLst/>
            <a:ahLst/>
            <a:cxnLst/>
            <a:rect r="r" b="b" t="t" l="l"/>
            <a:pathLst>
              <a:path h="1527205" w="2312839">
                <a:moveTo>
                  <a:pt x="0" y="0"/>
                </a:moveTo>
                <a:lnTo>
                  <a:pt x="2312839" y="0"/>
                </a:lnTo>
                <a:lnTo>
                  <a:pt x="2312839" y="1527204"/>
                </a:lnTo>
                <a:lnTo>
                  <a:pt x="0" y="15272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5279" r="0" b="-5279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2224558" y="2288836"/>
            <a:ext cx="15034742" cy="125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18"/>
              </a:lnSpc>
            </a:pPr>
            <a:r>
              <a:rPr lang="en-US" sz="11193" spc="-1119" b="true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Technologies and Tools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-507891" y="-1267063"/>
            <a:ext cx="5480359" cy="4229632"/>
            <a:chOff x="0" y="0"/>
            <a:chExt cx="905432" cy="69879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905432" cy="698795"/>
            </a:xfrm>
            <a:custGeom>
              <a:avLst/>
              <a:gdLst/>
              <a:ahLst/>
              <a:cxnLst/>
              <a:rect r="r" b="b" t="t" l="l"/>
              <a:pathLst>
                <a:path h="698795" w="905432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6"/>
              <a:stretch>
                <a:fillRect l="-17658" t="0" r="-17658" b="0"/>
              </a:stretch>
            </a:blipFill>
          </p:spPr>
        </p:sp>
      </p:grpSp>
      <p:sp>
        <p:nvSpPr>
          <p:cNvPr name="Freeform 23" id="23"/>
          <p:cNvSpPr/>
          <p:nvPr/>
        </p:nvSpPr>
        <p:spPr>
          <a:xfrm flipH="false" flipV="false" rot="0">
            <a:off x="8878573" y="6095839"/>
            <a:ext cx="2426606" cy="1107415"/>
          </a:xfrm>
          <a:custGeom>
            <a:avLst/>
            <a:gdLst/>
            <a:ahLst/>
            <a:cxnLst/>
            <a:rect r="r" b="b" t="t" l="l"/>
            <a:pathLst>
              <a:path h="1107415" w="2426606">
                <a:moveTo>
                  <a:pt x="0" y="0"/>
                </a:moveTo>
                <a:lnTo>
                  <a:pt x="2426606" y="0"/>
                </a:lnTo>
                <a:lnTo>
                  <a:pt x="2426606" y="1107415"/>
                </a:lnTo>
                <a:lnTo>
                  <a:pt x="0" y="110741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2468341" y="5933772"/>
            <a:ext cx="3576495" cy="4384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5293" indent="-167647" lvl="1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Angular.</a:t>
            </a:r>
          </a:p>
          <a:p>
            <a:pPr algn="l">
              <a:lnSpc>
                <a:spcPts val="1785"/>
              </a:lnSpc>
            </a:pPr>
          </a:p>
        </p:txBody>
      </p:sp>
      <p:sp>
        <p:nvSpPr>
          <p:cNvPr name="TextBox 25" id="25"/>
          <p:cNvSpPr txBox="true"/>
          <p:nvPr/>
        </p:nvSpPr>
        <p:spPr>
          <a:xfrm rot="0">
            <a:off x="12234104" y="6983842"/>
            <a:ext cx="3576495" cy="21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5293" indent="-167647" lvl="1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Miro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468341" y="7121234"/>
            <a:ext cx="3576495" cy="21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5293" indent="-167647" lvl="1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ExpressJS.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355752" y="6845009"/>
            <a:ext cx="3576495" cy="21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5293" indent="-167647" lvl="1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Notion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234104" y="6575201"/>
            <a:ext cx="3576495" cy="21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5293" indent="-167647" lvl="1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Excel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477400" y="7797352"/>
            <a:ext cx="3576495" cy="21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5293" indent="-167647" lvl="1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PostgreSQL.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391712" y="7320326"/>
            <a:ext cx="3576495" cy="21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5293" indent="-167647" lvl="1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Visual Studio Code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468341" y="6479951"/>
            <a:ext cx="3576495" cy="4384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5293" indent="-167647" lvl="1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PrismaDB</a:t>
            </a:r>
          </a:p>
          <a:p>
            <a:pPr algn="l">
              <a:lnSpc>
                <a:spcPts val="1785"/>
              </a:lnSpc>
            </a:pPr>
          </a:p>
        </p:txBody>
      </p:sp>
      <p:sp>
        <p:nvSpPr>
          <p:cNvPr name="TextBox 32" id="32"/>
          <p:cNvSpPr txBox="true"/>
          <p:nvPr/>
        </p:nvSpPr>
        <p:spPr>
          <a:xfrm rot="0">
            <a:off x="-2827377" y="4536624"/>
            <a:ext cx="14367955" cy="3771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9"/>
              </a:lnSpc>
            </a:pPr>
            <a:r>
              <a:rPr lang="en-US" sz="2252" spc="94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BackEnd/FrontEnd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931929" y="4536624"/>
            <a:ext cx="14367955" cy="3771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9"/>
              </a:lnSpc>
            </a:pPr>
            <a:r>
              <a:rPr lang="en-US" sz="2252" spc="94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Suppport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7355752" y="5894376"/>
            <a:ext cx="3576495" cy="21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5293" indent="-167647" lvl="1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GitHub y Git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355752" y="6369693"/>
            <a:ext cx="3576495" cy="21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5293" indent="-167647" lvl="1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Figma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234104" y="4568106"/>
            <a:ext cx="4272516" cy="3771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9"/>
              </a:lnSpc>
            </a:pPr>
            <a:r>
              <a:rPr lang="en-US" sz="2252" spc="94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Planification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391712" y="7795643"/>
            <a:ext cx="3576495" cy="21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5293" indent="-167647" lvl="1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Data Modeler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2234104" y="5761960"/>
            <a:ext cx="3576495" cy="21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5293" indent="-167647" lvl="1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User Story Map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234104" y="6170601"/>
            <a:ext cx="3576495" cy="21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5293" indent="-167647" lvl="1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Roadmap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7391712" y="8270959"/>
            <a:ext cx="3576495" cy="21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5293" indent="-167647" lvl="1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Docker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2468341" y="8270959"/>
            <a:ext cx="3576495" cy="21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5293" indent="-167647" lvl="1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Tailwindcss</a:t>
            </a:r>
          </a:p>
        </p:txBody>
      </p:sp>
      <p:sp>
        <p:nvSpPr>
          <p:cNvPr name="AutoShape 42" id="42"/>
          <p:cNvSpPr/>
          <p:nvPr/>
        </p:nvSpPr>
        <p:spPr>
          <a:xfrm>
            <a:off x="0" y="3657531"/>
            <a:ext cx="18463506" cy="9525"/>
          </a:xfrm>
          <a:prstGeom prst="line">
            <a:avLst/>
          </a:prstGeom>
          <a:ln cap="flat" w="19050">
            <a:solidFill>
              <a:srgbClr val="00BB13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  <p:transition spd="slow">
    <p:push dir="l"/>
  </p:transition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423374" y="982863"/>
            <a:ext cx="11156860" cy="8020024"/>
            <a:chOff x="0" y="0"/>
            <a:chExt cx="1257272" cy="90378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57272" cy="903781"/>
            </a:xfrm>
            <a:custGeom>
              <a:avLst/>
              <a:gdLst/>
              <a:ahLst/>
              <a:cxnLst/>
              <a:rect r="r" b="b" t="t" l="l"/>
              <a:pathLst>
                <a:path h="903781" w="1257272">
                  <a:moveTo>
                    <a:pt x="15960" y="0"/>
                  </a:moveTo>
                  <a:lnTo>
                    <a:pt x="1241312" y="0"/>
                  </a:lnTo>
                  <a:cubicBezTo>
                    <a:pt x="1250127" y="0"/>
                    <a:pt x="1257272" y="7146"/>
                    <a:pt x="1257272" y="15960"/>
                  </a:cubicBezTo>
                  <a:lnTo>
                    <a:pt x="1257272" y="887821"/>
                  </a:lnTo>
                  <a:cubicBezTo>
                    <a:pt x="1257272" y="892053"/>
                    <a:pt x="1255591" y="896113"/>
                    <a:pt x="1252598" y="899106"/>
                  </a:cubicBezTo>
                  <a:cubicBezTo>
                    <a:pt x="1249605" y="902099"/>
                    <a:pt x="1245545" y="903781"/>
                    <a:pt x="1241312" y="903781"/>
                  </a:cubicBezTo>
                  <a:lnTo>
                    <a:pt x="15960" y="903781"/>
                  </a:lnTo>
                  <a:cubicBezTo>
                    <a:pt x="11727" y="903781"/>
                    <a:pt x="7668" y="902099"/>
                    <a:pt x="4675" y="899106"/>
                  </a:cubicBezTo>
                  <a:cubicBezTo>
                    <a:pt x="1682" y="896113"/>
                    <a:pt x="0" y="892053"/>
                    <a:pt x="0" y="887821"/>
                  </a:cubicBezTo>
                  <a:lnTo>
                    <a:pt x="0" y="15960"/>
                  </a:lnTo>
                  <a:cubicBezTo>
                    <a:pt x="0" y="11727"/>
                    <a:pt x="1682" y="7668"/>
                    <a:pt x="4675" y="4675"/>
                  </a:cubicBezTo>
                  <a:cubicBezTo>
                    <a:pt x="7668" y="1682"/>
                    <a:pt x="11727" y="0"/>
                    <a:pt x="15960" y="0"/>
                  </a:cubicBezTo>
                  <a:close/>
                </a:path>
              </a:pathLst>
            </a:custGeom>
            <a:blipFill>
              <a:blip r:embed="rId2"/>
              <a:stretch>
                <a:fillRect l="-891" t="0" r="-891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4524008" y="4164769"/>
            <a:ext cx="826601" cy="828107"/>
          </a:xfrm>
          <a:custGeom>
            <a:avLst/>
            <a:gdLst/>
            <a:ahLst/>
            <a:cxnLst/>
            <a:rect r="r" b="b" t="t" l="l"/>
            <a:pathLst>
              <a:path h="828107" w="826601">
                <a:moveTo>
                  <a:pt x="0" y="0"/>
                </a:moveTo>
                <a:lnTo>
                  <a:pt x="826601" y="0"/>
                </a:lnTo>
                <a:lnTo>
                  <a:pt x="826601" y="828106"/>
                </a:lnTo>
                <a:lnTo>
                  <a:pt x="0" y="82810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899019" y="3690751"/>
            <a:ext cx="3876534" cy="16634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56"/>
              </a:lnSpc>
            </a:pPr>
            <a:r>
              <a:rPr lang="en-US" sz="6951" spc="-556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Relational database</a:t>
            </a:r>
          </a:p>
        </p:txBody>
      </p:sp>
      <p:sp>
        <p:nvSpPr>
          <p:cNvPr name="AutoShape 6" id="6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cap="flat" w="19050">
            <a:solidFill>
              <a:srgbClr val="00BB1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-507891" y="-1267063"/>
            <a:ext cx="5480359" cy="4229632"/>
            <a:chOff x="0" y="0"/>
            <a:chExt cx="905432" cy="69879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05432" cy="698795"/>
            </a:xfrm>
            <a:custGeom>
              <a:avLst/>
              <a:gdLst/>
              <a:ahLst/>
              <a:cxnLst/>
              <a:rect r="r" b="b" t="t" l="l"/>
              <a:pathLst>
                <a:path h="698795" w="905432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5"/>
              <a:stretch>
                <a:fillRect l="-17658" t="0" r="-17658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5074730" y="9407969"/>
            <a:ext cx="2184059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PostgreSQL</a:t>
            </a:r>
          </a:p>
        </p:txBody>
      </p:sp>
    </p:spTree>
  </p:cSld>
  <p:clrMapOvr>
    <a:masterClrMapping/>
  </p:clrMapOvr>
  <p:transition spd="fast">
    <p:push dir="l"/>
  </p:transition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065790" y="283997"/>
            <a:ext cx="7959066" cy="8450746"/>
          </a:xfrm>
          <a:custGeom>
            <a:avLst/>
            <a:gdLst/>
            <a:ahLst/>
            <a:cxnLst/>
            <a:rect r="r" b="b" t="t" l="l"/>
            <a:pathLst>
              <a:path h="8450746" w="795906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008689" y="2292823"/>
            <a:ext cx="1465883" cy="1468553"/>
          </a:xfrm>
          <a:custGeom>
            <a:avLst/>
            <a:gdLst/>
            <a:ahLst/>
            <a:cxnLst/>
            <a:rect r="r" b="b" t="t" l="l"/>
            <a:pathLst>
              <a:path h="1468553" w="146588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513140" y="697293"/>
            <a:ext cx="9228490" cy="1034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39"/>
              </a:lnSpc>
            </a:pPr>
            <a:r>
              <a:rPr lang="en-US" sz="9271" spc="-927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Cash flow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0" y="1865746"/>
            <a:ext cx="18423986" cy="7956364"/>
          </a:xfrm>
          <a:custGeom>
            <a:avLst/>
            <a:gdLst/>
            <a:ahLst/>
            <a:cxnLst/>
            <a:rect r="r" b="b" t="t" l="l"/>
            <a:pathLst>
              <a:path h="7956364" w="18423986">
                <a:moveTo>
                  <a:pt x="0" y="0"/>
                </a:moveTo>
                <a:lnTo>
                  <a:pt x="18423986" y="0"/>
                </a:lnTo>
                <a:lnTo>
                  <a:pt x="18423986" y="7956364"/>
                </a:lnTo>
                <a:lnTo>
                  <a:pt x="0" y="795636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-1598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507891" y="-1267063"/>
            <a:ext cx="5480359" cy="4229632"/>
            <a:chOff x="0" y="0"/>
            <a:chExt cx="905432" cy="69879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05432" cy="698795"/>
            </a:xfrm>
            <a:custGeom>
              <a:avLst/>
              <a:gdLst/>
              <a:ahLst/>
              <a:cxnLst/>
              <a:rect r="r" b="b" t="t" l="l"/>
              <a:pathLst>
                <a:path h="698795" w="905432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7"/>
              <a:stretch>
                <a:fillRect l="-17658" t="0" r="-17658" b="0"/>
              </a:stretch>
            </a:blipFill>
          </p:spPr>
        </p:sp>
      </p:grpSp>
    </p:spTree>
  </p:cSld>
  <p:clrMapOvr>
    <a:masterClrMapping/>
  </p:clrMapOvr>
  <p:transition spd="slow">
    <p:push dir="l"/>
  </p:transition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065790" y="283997"/>
            <a:ext cx="7959066" cy="8450746"/>
          </a:xfrm>
          <a:custGeom>
            <a:avLst/>
            <a:gdLst/>
            <a:ahLst/>
            <a:cxnLst/>
            <a:rect r="r" b="b" t="t" l="l"/>
            <a:pathLst>
              <a:path h="8450746" w="795906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914023" y="5732347"/>
            <a:ext cx="1465883" cy="1468553"/>
          </a:xfrm>
          <a:custGeom>
            <a:avLst/>
            <a:gdLst/>
            <a:ahLst/>
            <a:cxnLst/>
            <a:rect r="r" b="b" t="t" l="l"/>
            <a:pathLst>
              <a:path h="1468553" w="146588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027756" y="3499906"/>
            <a:ext cx="11619208" cy="6626992"/>
          </a:xfrm>
          <a:custGeom>
            <a:avLst/>
            <a:gdLst/>
            <a:ahLst/>
            <a:cxnLst/>
            <a:rect r="r" b="b" t="t" l="l"/>
            <a:pathLst>
              <a:path h="6626992" w="11619208">
                <a:moveTo>
                  <a:pt x="0" y="0"/>
                </a:moveTo>
                <a:lnTo>
                  <a:pt x="11619209" y="0"/>
                </a:lnTo>
                <a:lnTo>
                  <a:pt x="11619209" y="6626991"/>
                </a:lnTo>
                <a:lnTo>
                  <a:pt x="0" y="66269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639503" y="3397048"/>
            <a:ext cx="9274520" cy="2335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18"/>
              </a:lnSpc>
            </a:pPr>
            <a:r>
              <a:rPr lang="en-US" sz="11193" spc="-111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Program presentation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303732"/>
            <a:ext cx="3382072" cy="4648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b="true">
                <a:solidFill>
                  <a:srgbClr val="F1F1F1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Capstone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065790" y="283997"/>
            <a:ext cx="7959066" cy="8450746"/>
          </a:xfrm>
          <a:custGeom>
            <a:avLst/>
            <a:gdLst/>
            <a:ahLst/>
            <a:cxnLst/>
            <a:rect r="r" b="b" t="t" l="l"/>
            <a:pathLst>
              <a:path h="8450746" w="795906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914023" y="5732347"/>
            <a:ext cx="1465883" cy="1468553"/>
          </a:xfrm>
          <a:custGeom>
            <a:avLst/>
            <a:gdLst/>
            <a:ahLst/>
            <a:cxnLst/>
            <a:rect r="r" b="b" t="t" l="l"/>
            <a:pathLst>
              <a:path h="1468553" w="146588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027756" y="3303231"/>
            <a:ext cx="11619208" cy="6626992"/>
          </a:xfrm>
          <a:custGeom>
            <a:avLst/>
            <a:gdLst/>
            <a:ahLst/>
            <a:cxnLst/>
            <a:rect r="r" b="b" t="t" l="l"/>
            <a:pathLst>
              <a:path h="6626992" w="11619208">
                <a:moveTo>
                  <a:pt x="0" y="0"/>
                </a:moveTo>
                <a:lnTo>
                  <a:pt x="11619209" y="0"/>
                </a:lnTo>
                <a:lnTo>
                  <a:pt x="11619209" y="6626992"/>
                </a:lnTo>
                <a:lnTo>
                  <a:pt x="0" y="662699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639503" y="3230108"/>
            <a:ext cx="9274520" cy="2335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18"/>
              </a:lnSpc>
            </a:pPr>
            <a:r>
              <a:rPr lang="en-US" b="true" sz="11193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Future improvements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303732"/>
            <a:ext cx="3382072" cy="4648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b="true">
                <a:solidFill>
                  <a:srgbClr val="F1F1F1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Capstone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065790" y="283997"/>
            <a:ext cx="7959066" cy="8450746"/>
          </a:xfrm>
          <a:custGeom>
            <a:avLst/>
            <a:gdLst/>
            <a:ahLst/>
            <a:cxnLst/>
            <a:rect r="r" b="b" t="t" l="l"/>
            <a:pathLst>
              <a:path h="8450746" w="795906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914023" y="5732347"/>
            <a:ext cx="1465883" cy="1468553"/>
          </a:xfrm>
          <a:custGeom>
            <a:avLst/>
            <a:gdLst/>
            <a:ahLst/>
            <a:cxnLst/>
            <a:rect r="r" b="b" t="t" l="l"/>
            <a:pathLst>
              <a:path h="1468553" w="146588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027756" y="3499906"/>
            <a:ext cx="11619208" cy="6626992"/>
          </a:xfrm>
          <a:custGeom>
            <a:avLst/>
            <a:gdLst/>
            <a:ahLst/>
            <a:cxnLst/>
            <a:rect r="r" b="b" t="t" l="l"/>
            <a:pathLst>
              <a:path h="6626992" w="11619208">
                <a:moveTo>
                  <a:pt x="0" y="0"/>
                </a:moveTo>
                <a:lnTo>
                  <a:pt x="11619209" y="0"/>
                </a:lnTo>
                <a:lnTo>
                  <a:pt x="11619209" y="6626991"/>
                </a:lnTo>
                <a:lnTo>
                  <a:pt x="0" y="66269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893355" y="4104105"/>
            <a:ext cx="9274520" cy="125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18"/>
              </a:lnSpc>
            </a:pPr>
            <a:r>
              <a:rPr lang="en-US" sz="11193" spc="-1119" b="true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Thank you!!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303732"/>
            <a:ext cx="3382072" cy="4648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b="true">
                <a:solidFill>
                  <a:srgbClr val="F1F1F1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DAG5GrAod20</dc:identifier>
  <dcterms:modified xsi:type="dcterms:W3CDTF">2011-08-01T06:04:30Z</dcterms:modified>
  <cp:revision>1</cp:revision>
  <dc:title>Copia de Gray Blue and Black Modern Business Presentation</dc:title>
</cp:coreProperties>
</file>