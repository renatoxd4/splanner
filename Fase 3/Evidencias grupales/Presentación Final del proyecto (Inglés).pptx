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8288000" cy="10287000"/>
  <p:notesSz cx="6858000" cy="9144000"/>
  <p:embeddedFontLst>
    <p:embeddedFont>
      <p:font typeface="Open Sans 1" panose="020B0604020202020204" charset="0"/>
      <p:regular r:id="rId21"/>
    </p:embeddedFont>
    <p:embeddedFont>
      <p:font typeface="Open Sans 1 Bold" panose="020B0604020202020204" charset="0"/>
      <p:regular r:id="rId22"/>
    </p:embeddedFont>
    <p:embeddedFont>
      <p:font typeface="Open Sans 2" panose="020B0604020202020204" charset="0"/>
      <p:regular r:id="rId23"/>
    </p:embeddedFont>
    <p:embeddedFont>
      <p:font typeface="Open Sans 2 Bold" panose="020B0604020202020204" charset="0"/>
      <p:regular r:id="rId24"/>
    </p:embeddedFont>
    <p:embeddedFont>
      <p:font typeface="Public Sans" panose="020B0604020202020204" charset="0"/>
      <p:regular r:id="rId25"/>
    </p:embeddedFont>
    <p:embeddedFont>
      <p:font typeface="Public Sans Bold" panose="020B0604020202020204" charset="0"/>
      <p:regular r:id="rId26"/>
    </p:embeddedFont>
    <p:embeddedFont>
      <p:font typeface="Public Sans Medium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1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0.png"/><Relationship Id="rId5" Type="http://schemas.openxmlformats.org/officeDocument/2006/relationships/image" Target="../media/image17.svg"/><Relationship Id="rId10" Type="http://schemas.openxmlformats.org/officeDocument/2006/relationships/image" Target="../media/image3.png"/><Relationship Id="rId4" Type="http://schemas.openxmlformats.org/officeDocument/2006/relationships/image" Target="../media/image16.png"/><Relationship Id="rId9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5.svg"/><Relationship Id="rId7" Type="http://schemas.openxmlformats.org/officeDocument/2006/relationships/image" Target="../media/image3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1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133208" y="4862154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8379181" y="3898348"/>
            <a:ext cx="5050543" cy="1550789"/>
          </a:xfrm>
          <a:custGeom>
            <a:avLst/>
            <a:gdLst/>
            <a:ahLst/>
            <a:cxnLst/>
            <a:rect l="l" t="t" r="r" b="b"/>
            <a:pathLst>
              <a:path w="5050543" h="1550789">
                <a:moveTo>
                  <a:pt x="0" y="0"/>
                </a:moveTo>
                <a:lnTo>
                  <a:pt x="5050542" y="0"/>
                </a:lnTo>
                <a:lnTo>
                  <a:pt x="5050542" y="1550789"/>
                </a:lnTo>
                <a:lnTo>
                  <a:pt x="0" y="15507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3705" t="-136567" r="-50521" b="-142781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TextBox 4"/>
          <p:cNvSpPr txBox="1"/>
          <p:nvPr/>
        </p:nvSpPr>
        <p:spPr>
          <a:xfrm>
            <a:off x="3007352" y="4199688"/>
            <a:ext cx="5371829" cy="1249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Project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16064" y="6070166"/>
            <a:ext cx="6025168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FINAL CAPSTONE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660291" y="-1435764"/>
            <a:ext cx="5482615" cy="4231373"/>
            <a:chOff x="0" y="0"/>
            <a:chExt cx="905432" cy="6987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2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4" name="AutoShape 4"/>
          <p:cNvSpPr/>
          <p:nvPr/>
        </p:nvSpPr>
        <p:spPr>
          <a:xfrm flipV="1">
            <a:off x="-70012" y="3121203"/>
            <a:ext cx="18428024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5" name="Freeform 5"/>
          <p:cNvSpPr/>
          <p:nvPr/>
        </p:nvSpPr>
        <p:spPr>
          <a:xfrm rot="-10800000">
            <a:off x="12581095" y="-12217"/>
            <a:ext cx="8703161" cy="8710420"/>
          </a:xfrm>
          <a:custGeom>
            <a:avLst/>
            <a:gdLst/>
            <a:ahLst/>
            <a:cxnLst/>
            <a:rect l="l" t="t" r="r" b="b"/>
            <a:pathLst>
              <a:path w="8703161" h="8710420">
                <a:moveTo>
                  <a:pt x="0" y="0"/>
                </a:moveTo>
                <a:lnTo>
                  <a:pt x="8703162" y="0"/>
                </a:lnTo>
                <a:lnTo>
                  <a:pt x="8703162" y="8710420"/>
                </a:lnTo>
                <a:lnTo>
                  <a:pt x="0" y="87104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6" name="Group 6"/>
          <p:cNvGrpSpPr/>
          <p:nvPr/>
        </p:nvGrpSpPr>
        <p:grpSpPr>
          <a:xfrm>
            <a:off x="9144000" y="1860674"/>
            <a:ext cx="185737" cy="18573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144000" y="4813810"/>
            <a:ext cx="185737" cy="185737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686987" y="1963706"/>
            <a:ext cx="3285500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índice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31644" y="3781214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Project Members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9535" y="3177651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31644" y="4778278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Problem Statement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9535" y="419560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31644" y="5842792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Solution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99535" y="5242717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31644" y="6909451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Objectives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99535" y="6337457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31644" y="7937022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Project Scope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99535" y="7432197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321940" y="3776475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Limitations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989831" y="317291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321940" y="4773538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Applied Methodologies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89831" y="4190863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21940" y="5838053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Schedule / Timeline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989831" y="5237978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269160" y="6806221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Technologies and Tools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989831" y="646128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9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321940" y="7932283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Database Model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989831" y="7465558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10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715689" y="3852675"/>
            <a:ext cx="4669832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Cash Flow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57359" y="3264864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715689" y="4828329"/>
            <a:ext cx="4415342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Program Presentation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57359" y="4282815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715689" y="5780585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Future Improvements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57359" y="5329930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715689" y="6911938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Questions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57359" y="646128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941926" y="7012580"/>
            <a:ext cx="5859471" cy="2162678"/>
          </a:xfrm>
          <a:custGeom>
            <a:avLst/>
            <a:gdLst/>
            <a:ahLst/>
            <a:cxnLst/>
            <a:rect l="l" t="t" r="r" b="b"/>
            <a:pathLst>
              <a:path w="5859471" h="2162678">
                <a:moveTo>
                  <a:pt x="0" y="0"/>
                </a:moveTo>
                <a:lnTo>
                  <a:pt x="5859471" y="0"/>
                </a:lnTo>
                <a:lnTo>
                  <a:pt x="5859471" y="2162678"/>
                </a:lnTo>
                <a:lnTo>
                  <a:pt x="0" y="21626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TextBox 3"/>
          <p:cNvSpPr txBox="1"/>
          <p:nvPr/>
        </p:nvSpPr>
        <p:spPr>
          <a:xfrm>
            <a:off x="1028700" y="4174129"/>
            <a:ext cx="6552222" cy="19240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 spc="-64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Members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1363666" y="3111055"/>
            <a:ext cx="3426127" cy="2128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442"/>
              </a:lnSpc>
            </a:pPr>
            <a:r>
              <a:rPr lang="en-US" sz="174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OWNER</a:t>
            </a:r>
            <a:endParaRPr lang="en-US" sz="174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 dirty="0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1363666" y="3548251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EDISON PARDO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63666" y="5118626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RENATO CHICAHUAL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63666" y="4691516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SCRUM MASTER</a:t>
            </a:r>
          </a:p>
        </p:txBody>
      </p:sp>
      <p:sp>
        <p:nvSpPr>
          <p:cNvPr id="8" name="AutoShape 8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47625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9" name="TextBox 9"/>
          <p:cNvSpPr txBox="1"/>
          <p:nvPr/>
        </p:nvSpPr>
        <p:spPr>
          <a:xfrm>
            <a:off x="11363666" y="6773320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ALEXIS GONZÁLEZ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363666" y="6346210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DEVELOPER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63666" y="8390178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DIEGO ACEVEDO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63666" y="7963068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QA</a:t>
            </a:r>
          </a:p>
        </p:txBody>
      </p:sp>
      <p:sp>
        <p:nvSpPr>
          <p:cNvPr id="13" name="Freeform 13"/>
          <p:cNvSpPr/>
          <p:nvPr/>
        </p:nvSpPr>
        <p:spPr>
          <a:xfrm>
            <a:off x="5866797" y="-1294609"/>
            <a:ext cx="4839189" cy="5138135"/>
          </a:xfrm>
          <a:custGeom>
            <a:avLst/>
            <a:gdLst/>
            <a:ahLst/>
            <a:cxnLst/>
            <a:rect l="l" t="t" r="r" b="b"/>
            <a:pathLst>
              <a:path w="4839189" h="5138135">
                <a:moveTo>
                  <a:pt x="0" y="0"/>
                </a:moveTo>
                <a:lnTo>
                  <a:pt x="4839188" y="0"/>
                </a:lnTo>
                <a:lnTo>
                  <a:pt x="4839188" y="5138135"/>
                </a:lnTo>
                <a:lnTo>
                  <a:pt x="0" y="51381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14" name="Group 14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686760" y="8686339"/>
            <a:ext cx="4755052" cy="5048801"/>
          </a:xfrm>
          <a:custGeom>
            <a:avLst/>
            <a:gdLst/>
            <a:ahLst/>
            <a:cxnLst/>
            <a:rect l="l" t="t" r="r" b="b"/>
            <a:pathLst>
              <a:path w="4755052" h="5048801">
                <a:moveTo>
                  <a:pt x="0" y="0"/>
                </a:moveTo>
                <a:lnTo>
                  <a:pt x="4755052" y="0"/>
                </a:lnTo>
                <a:lnTo>
                  <a:pt x="4755052" y="5048801"/>
                </a:lnTo>
                <a:lnTo>
                  <a:pt x="0" y="50488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206121" y="2679789"/>
            <a:ext cx="9716331" cy="6818619"/>
            <a:chOff x="0" y="0"/>
            <a:chExt cx="1117832" cy="78446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17832" cy="784460"/>
            </a:xfrm>
            <a:custGeom>
              <a:avLst/>
              <a:gdLst/>
              <a:ahLst/>
              <a:cxnLst/>
              <a:rect l="l" t="t" r="r" b="b"/>
              <a:pathLst>
                <a:path w="1117832" h="784460">
                  <a:moveTo>
                    <a:pt x="18326" y="0"/>
                  </a:moveTo>
                  <a:lnTo>
                    <a:pt x="1099506" y="0"/>
                  </a:lnTo>
                  <a:cubicBezTo>
                    <a:pt x="1104366" y="0"/>
                    <a:pt x="1109028" y="1931"/>
                    <a:pt x="1112464" y="5368"/>
                  </a:cubicBezTo>
                  <a:cubicBezTo>
                    <a:pt x="1115901" y="8804"/>
                    <a:pt x="1117832" y="13466"/>
                    <a:pt x="1117832" y="18326"/>
                  </a:cubicBezTo>
                  <a:lnTo>
                    <a:pt x="1117832" y="766134"/>
                  </a:lnTo>
                  <a:cubicBezTo>
                    <a:pt x="1117832" y="770994"/>
                    <a:pt x="1115901" y="775655"/>
                    <a:pt x="1112464" y="779092"/>
                  </a:cubicBezTo>
                  <a:cubicBezTo>
                    <a:pt x="1109028" y="782529"/>
                    <a:pt x="1104366" y="784460"/>
                    <a:pt x="1099506" y="784460"/>
                  </a:cubicBezTo>
                  <a:lnTo>
                    <a:pt x="18326" y="784460"/>
                  </a:lnTo>
                  <a:cubicBezTo>
                    <a:pt x="8205" y="784460"/>
                    <a:pt x="0" y="776255"/>
                    <a:pt x="0" y="766134"/>
                  </a:cubicBezTo>
                  <a:lnTo>
                    <a:pt x="0" y="18326"/>
                  </a:lnTo>
                  <a:cubicBezTo>
                    <a:pt x="0" y="13466"/>
                    <a:pt x="1931" y="8804"/>
                    <a:pt x="5368" y="5368"/>
                  </a:cubicBezTo>
                  <a:cubicBezTo>
                    <a:pt x="8804" y="1931"/>
                    <a:pt x="13466" y="0"/>
                    <a:pt x="18326" y="0"/>
                  </a:cubicBezTo>
                  <a:close/>
                </a:path>
              </a:pathLst>
            </a:custGeom>
            <a:blipFill>
              <a:blip r:embed="rId4"/>
              <a:stretch>
                <a:fillRect t="-9759" b="-975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Freeform 5"/>
          <p:cNvSpPr/>
          <p:nvPr/>
        </p:nvSpPr>
        <p:spPr>
          <a:xfrm>
            <a:off x="9943589" y="-414788"/>
            <a:ext cx="7315200" cy="3976809"/>
          </a:xfrm>
          <a:custGeom>
            <a:avLst/>
            <a:gdLst/>
            <a:ahLst/>
            <a:cxnLst/>
            <a:rect l="l" t="t" r="r" b="b"/>
            <a:pathLst>
              <a:path w="7315200" h="3976809">
                <a:moveTo>
                  <a:pt x="0" y="0"/>
                </a:moveTo>
                <a:lnTo>
                  <a:pt x="7315200" y="0"/>
                </a:lnTo>
                <a:lnTo>
                  <a:pt x="7315200" y="3976809"/>
                </a:lnTo>
                <a:lnTo>
                  <a:pt x="0" y="39768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6" name="TextBox 6"/>
          <p:cNvSpPr txBox="1"/>
          <p:nvPr/>
        </p:nvSpPr>
        <p:spPr>
          <a:xfrm>
            <a:off x="1792345" y="1504700"/>
            <a:ext cx="8659727" cy="100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 spc="-640">
                <a:solidFill>
                  <a:srgbClr val="00BB13"/>
                </a:solidFill>
                <a:latin typeface="Public Sans"/>
                <a:ea typeface="Public Sans"/>
                <a:cs typeface="Public Sans"/>
                <a:sym typeface="Public Sans"/>
              </a:rPr>
              <a:t>Problem Statement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52072" y="4324783"/>
            <a:ext cx="7446222" cy="3190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33"/>
              </a:lnSpc>
              <a:spcBef>
                <a:spcPct val="0"/>
              </a:spcBef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Currently, many SMEs (Small and Medium-sized Enterprises), startups, students, and educational teams face difficulties managing projects efficiently due to:</a:t>
            </a:r>
          </a:p>
          <a:p>
            <a:pPr marL="436916" lvl="1" indent="-218458" algn="l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Costly Tools: Platforms like Jira, Notion, or others have premium plans that are inaccessible for small budgets.</a:t>
            </a:r>
          </a:p>
          <a:p>
            <a:pPr marL="436916" lvl="1" indent="-218458" algn="l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Complexity: Overloaded interfaces that require prolonged training.</a:t>
            </a:r>
          </a:p>
          <a:p>
            <a:pPr marL="436916" lvl="1" indent="-218458" algn="l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Lack of Automation: Repetitive tasks (documentation, descriptions) consume valuable time.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870776" y="-1551584"/>
            <a:ext cx="5482615" cy="4231373"/>
            <a:chOff x="0" y="0"/>
            <a:chExt cx="905432" cy="69879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443846" y="0"/>
            <a:ext cx="7844154" cy="7850697"/>
          </a:xfrm>
          <a:custGeom>
            <a:avLst/>
            <a:gdLst/>
            <a:ahLst/>
            <a:cxnLst/>
            <a:rect l="l" t="t" r="r" b="b"/>
            <a:pathLst>
              <a:path w="7844154" h="7850697">
                <a:moveTo>
                  <a:pt x="0" y="0"/>
                </a:moveTo>
                <a:lnTo>
                  <a:pt x="7844154" y="0"/>
                </a:lnTo>
                <a:lnTo>
                  <a:pt x="7844154" y="7850697"/>
                </a:lnTo>
                <a:lnTo>
                  <a:pt x="0" y="7850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8954668" y="1794822"/>
            <a:ext cx="8887591" cy="5456315"/>
            <a:chOff x="0" y="0"/>
            <a:chExt cx="932330" cy="5723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32330" cy="572381"/>
            </a:xfrm>
            <a:custGeom>
              <a:avLst/>
              <a:gdLst/>
              <a:ahLst/>
              <a:cxnLst/>
              <a:rect l="l" t="t" r="r" b="b"/>
              <a:pathLst>
                <a:path w="932330" h="572381">
                  <a:moveTo>
                    <a:pt x="20035" y="0"/>
                  </a:moveTo>
                  <a:lnTo>
                    <a:pt x="912295" y="0"/>
                  </a:lnTo>
                  <a:cubicBezTo>
                    <a:pt x="917609" y="0"/>
                    <a:pt x="922705" y="2111"/>
                    <a:pt x="926462" y="5868"/>
                  </a:cubicBezTo>
                  <a:cubicBezTo>
                    <a:pt x="930219" y="9625"/>
                    <a:pt x="932330" y="14721"/>
                    <a:pt x="932330" y="20035"/>
                  </a:cubicBezTo>
                  <a:lnTo>
                    <a:pt x="932330" y="552346"/>
                  </a:lnTo>
                  <a:cubicBezTo>
                    <a:pt x="932330" y="557659"/>
                    <a:pt x="930219" y="562755"/>
                    <a:pt x="926462" y="566513"/>
                  </a:cubicBezTo>
                  <a:cubicBezTo>
                    <a:pt x="922705" y="570270"/>
                    <a:pt x="917609" y="572381"/>
                    <a:pt x="912295" y="572381"/>
                  </a:cubicBezTo>
                  <a:lnTo>
                    <a:pt x="20035" y="572381"/>
                  </a:lnTo>
                  <a:cubicBezTo>
                    <a:pt x="14721" y="572381"/>
                    <a:pt x="9625" y="570270"/>
                    <a:pt x="5868" y="566513"/>
                  </a:cubicBezTo>
                  <a:cubicBezTo>
                    <a:pt x="2111" y="562755"/>
                    <a:pt x="0" y="557659"/>
                    <a:pt x="0" y="552346"/>
                  </a:cubicBezTo>
                  <a:lnTo>
                    <a:pt x="0" y="20035"/>
                  </a:lnTo>
                  <a:cubicBezTo>
                    <a:pt x="0" y="14721"/>
                    <a:pt x="2111" y="9625"/>
                    <a:pt x="5868" y="5868"/>
                  </a:cubicBezTo>
                  <a:cubicBezTo>
                    <a:pt x="9625" y="2111"/>
                    <a:pt x="14721" y="0"/>
                    <a:pt x="20035" y="0"/>
                  </a:cubicBezTo>
                  <a:close/>
                </a:path>
              </a:pathLst>
            </a:custGeom>
            <a:blipFill>
              <a:blip r:embed="rId4"/>
              <a:stretch>
                <a:fillRect l="-18353" t="-14977" r="-19260" b="-1110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AutoShape 5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6" name="Freeform 6"/>
          <p:cNvSpPr/>
          <p:nvPr/>
        </p:nvSpPr>
        <p:spPr>
          <a:xfrm rot="5400000">
            <a:off x="6873041" y="1712674"/>
            <a:ext cx="780172" cy="2569428"/>
          </a:xfrm>
          <a:custGeom>
            <a:avLst/>
            <a:gdLst/>
            <a:ahLst/>
            <a:cxnLst/>
            <a:rect l="l" t="t" r="r" b="b"/>
            <a:pathLst>
              <a:path w="780172" h="2569428">
                <a:moveTo>
                  <a:pt x="0" y="0"/>
                </a:moveTo>
                <a:lnTo>
                  <a:pt x="780171" y="0"/>
                </a:lnTo>
                <a:lnTo>
                  <a:pt x="780171" y="2569427"/>
                </a:lnTo>
                <a:lnTo>
                  <a:pt x="0" y="256942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7" name="TextBox 7"/>
          <p:cNvSpPr txBox="1"/>
          <p:nvPr/>
        </p:nvSpPr>
        <p:spPr>
          <a:xfrm>
            <a:off x="1029017" y="2312355"/>
            <a:ext cx="5818947" cy="1075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Solution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0354" y="3856164"/>
            <a:ext cx="7518823" cy="5999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Our purpose is to design and develop an intelligent Kanban manager with AI integration that is accessible, automated, and adapted to the Latin American market.</a:t>
            </a: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is justified because: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addresses the lack of accessible and usable tools for small organizations.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offers a simple interface in Spanish, reducing the barrier to entry.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includes AI to automate tasks such as project documentation.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5074730" y="9407969"/>
            <a:ext cx="218405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272727"/>
                </a:solidFill>
                <a:latin typeface="Public Sans"/>
                <a:ea typeface="Public Sans"/>
                <a:cs typeface="Public Sans"/>
                <a:sym typeface="Public Sans"/>
              </a:rPr>
              <a:t>Thynk Unlimited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60395" y="3911219"/>
            <a:ext cx="1879267" cy="187926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7508" tIns="37508" rIns="37508" bIns="37508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25405" y="3907459"/>
            <a:ext cx="1883026" cy="1883026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37508" tIns="37508" rIns="37508" bIns="37508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16583" y="6472721"/>
            <a:ext cx="1897654" cy="189765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38770" tIns="38770" rIns="38770" bIns="3877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60395" y="6524271"/>
            <a:ext cx="1881654" cy="188165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37508" tIns="37508" rIns="37508" bIns="37508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7323829" y="4195991"/>
            <a:ext cx="952399" cy="1411913"/>
          </a:xfrm>
          <a:custGeom>
            <a:avLst/>
            <a:gdLst/>
            <a:ahLst/>
            <a:cxnLst/>
            <a:rect l="l" t="t" r="r" b="b"/>
            <a:pathLst>
              <a:path w="952399" h="1411913">
                <a:moveTo>
                  <a:pt x="0" y="0"/>
                </a:moveTo>
                <a:lnTo>
                  <a:pt x="952400" y="0"/>
                </a:lnTo>
                <a:lnTo>
                  <a:pt x="952400" y="1411913"/>
                </a:lnTo>
                <a:lnTo>
                  <a:pt x="0" y="14119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5" name="Freeform 15"/>
          <p:cNvSpPr/>
          <p:nvPr/>
        </p:nvSpPr>
        <p:spPr>
          <a:xfrm>
            <a:off x="10009650" y="4312945"/>
            <a:ext cx="973317" cy="1112940"/>
          </a:xfrm>
          <a:custGeom>
            <a:avLst/>
            <a:gdLst/>
            <a:ahLst/>
            <a:cxnLst/>
            <a:rect l="l" t="t" r="r" b="b"/>
            <a:pathLst>
              <a:path w="973317" h="1112940">
                <a:moveTo>
                  <a:pt x="0" y="0"/>
                </a:moveTo>
                <a:lnTo>
                  <a:pt x="973317" y="0"/>
                </a:lnTo>
                <a:lnTo>
                  <a:pt x="973317" y="1112941"/>
                </a:lnTo>
                <a:lnTo>
                  <a:pt x="0" y="11129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6" name="Freeform 16"/>
          <p:cNvSpPr/>
          <p:nvPr/>
        </p:nvSpPr>
        <p:spPr>
          <a:xfrm>
            <a:off x="7275352" y="6848491"/>
            <a:ext cx="1049354" cy="1233215"/>
          </a:xfrm>
          <a:custGeom>
            <a:avLst/>
            <a:gdLst/>
            <a:ahLst/>
            <a:cxnLst/>
            <a:rect l="l" t="t" r="r" b="b"/>
            <a:pathLst>
              <a:path w="1049354" h="1233215">
                <a:moveTo>
                  <a:pt x="0" y="0"/>
                </a:moveTo>
                <a:lnTo>
                  <a:pt x="1049354" y="0"/>
                </a:lnTo>
                <a:lnTo>
                  <a:pt x="1049354" y="1233215"/>
                </a:lnTo>
                <a:lnTo>
                  <a:pt x="0" y="12332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7" name="Freeform 17"/>
          <p:cNvSpPr/>
          <p:nvPr/>
        </p:nvSpPr>
        <p:spPr>
          <a:xfrm rot="-10800000">
            <a:off x="11522718" y="0"/>
            <a:ext cx="6765282" cy="6770925"/>
          </a:xfrm>
          <a:custGeom>
            <a:avLst/>
            <a:gdLst/>
            <a:ahLst/>
            <a:cxnLst/>
            <a:rect l="l" t="t" r="r" b="b"/>
            <a:pathLst>
              <a:path w="6765282" h="6770925">
                <a:moveTo>
                  <a:pt x="0" y="0"/>
                </a:moveTo>
                <a:lnTo>
                  <a:pt x="6765282" y="0"/>
                </a:lnTo>
                <a:lnTo>
                  <a:pt x="6765282" y="6770925"/>
                </a:lnTo>
                <a:lnTo>
                  <a:pt x="0" y="67709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8" name="TextBox 18"/>
          <p:cNvSpPr txBox="1"/>
          <p:nvPr/>
        </p:nvSpPr>
        <p:spPr>
          <a:xfrm>
            <a:off x="2232289" y="1512389"/>
            <a:ext cx="13049141" cy="1191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81"/>
              </a:lnSpc>
            </a:pPr>
            <a:r>
              <a:rPr lang="en-US" sz="8817" b="1" spc="3050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OBJECTIVES</a:t>
            </a:r>
          </a:p>
        </p:txBody>
      </p:sp>
      <p:sp>
        <p:nvSpPr>
          <p:cNvPr id="19" name="AutoShape 19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20" name="Group 20"/>
          <p:cNvGrpSpPr/>
          <p:nvPr/>
        </p:nvGrpSpPr>
        <p:grpSpPr>
          <a:xfrm>
            <a:off x="-507891" y="-1283364"/>
            <a:ext cx="5480359" cy="4229632"/>
            <a:chOff x="0" y="0"/>
            <a:chExt cx="905432" cy="6987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10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22" name="Freeform 22"/>
          <p:cNvSpPr/>
          <p:nvPr/>
        </p:nvSpPr>
        <p:spPr>
          <a:xfrm>
            <a:off x="9822496" y="6884863"/>
            <a:ext cx="1160471" cy="1160471"/>
          </a:xfrm>
          <a:custGeom>
            <a:avLst/>
            <a:gdLst/>
            <a:ahLst/>
            <a:cxnLst/>
            <a:rect l="l" t="t" r="r" b="b"/>
            <a:pathLst>
              <a:path w="1160471" h="1160471">
                <a:moveTo>
                  <a:pt x="0" y="0"/>
                </a:moveTo>
                <a:lnTo>
                  <a:pt x="1160471" y="0"/>
                </a:lnTo>
                <a:lnTo>
                  <a:pt x="1160471" y="1160471"/>
                </a:lnTo>
                <a:lnTo>
                  <a:pt x="0" y="116047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23" name="TextBox 23"/>
          <p:cNvSpPr txBox="1"/>
          <p:nvPr/>
        </p:nvSpPr>
        <p:spPr>
          <a:xfrm>
            <a:off x="2594183" y="3513879"/>
            <a:ext cx="3071543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01. Accessibility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939939" y="3513879"/>
            <a:ext cx="3418129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03. Scalability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998949" y="6421974"/>
            <a:ext cx="3359119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04. Automation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594183" y="6421974"/>
            <a:ext cx="3071543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02. Organization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94183" y="4005731"/>
            <a:ext cx="2689114" cy="137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offer an accessible platform with an intuitive interface to reduce (or simplify) large amounts of information.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94183" y="7067664"/>
            <a:ext cx="2933584" cy="1071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facilitate the management of tasks, roles, permissions, and workflows using an intuitive Kanban board.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939939" y="4005731"/>
            <a:ext cx="2699178" cy="161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deliver a functional MVP (Minimum Viable Product) that can evolve in the future with more functionalities and integrations.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998949" y="7067664"/>
            <a:ext cx="2787064" cy="1341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use AI to automate repetitive tasks such as document generation, progress tracking, or information summarization.</a:t>
            </a: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8249950" y="1028700"/>
            <a:ext cx="9009350" cy="3627800"/>
            <a:chOff x="0" y="0"/>
            <a:chExt cx="1395784" cy="56204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95784" cy="562041"/>
            </a:xfrm>
            <a:custGeom>
              <a:avLst/>
              <a:gdLst/>
              <a:ahLst/>
              <a:cxnLst/>
              <a:rect l="l" t="t" r="r" b="b"/>
              <a:pathLst>
                <a:path w="1395784" h="562041">
                  <a:moveTo>
                    <a:pt x="19764" y="0"/>
                  </a:moveTo>
                  <a:lnTo>
                    <a:pt x="1376020" y="0"/>
                  </a:lnTo>
                  <a:cubicBezTo>
                    <a:pt x="1381262" y="0"/>
                    <a:pt x="1386289" y="2082"/>
                    <a:pt x="1389995" y="5789"/>
                  </a:cubicBezTo>
                  <a:cubicBezTo>
                    <a:pt x="1393702" y="9495"/>
                    <a:pt x="1395784" y="14523"/>
                    <a:pt x="1395784" y="19764"/>
                  </a:cubicBezTo>
                  <a:lnTo>
                    <a:pt x="1395784" y="542277"/>
                  </a:lnTo>
                  <a:cubicBezTo>
                    <a:pt x="1395784" y="547519"/>
                    <a:pt x="1393702" y="552546"/>
                    <a:pt x="1389995" y="556252"/>
                  </a:cubicBezTo>
                  <a:cubicBezTo>
                    <a:pt x="1386289" y="559959"/>
                    <a:pt x="1381262" y="562041"/>
                    <a:pt x="1376020" y="562041"/>
                  </a:cubicBezTo>
                  <a:lnTo>
                    <a:pt x="19764" y="562041"/>
                  </a:lnTo>
                  <a:cubicBezTo>
                    <a:pt x="14523" y="562041"/>
                    <a:pt x="9495" y="559959"/>
                    <a:pt x="5789" y="556252"/>
                  </a:cubicBezTo>
                  <a:cubicBezTo>
                    <a:pt x="2082" y="552546"/>
                    <a:pt x="0" y="547519"/>
                    <a:pt x="0" y="542277"/>
                  </a:cubicBezTo>
                  <a:lnTo>
                    <a:pt x="0" y="19764"/>
                  </a:lnTo>
                  <a:cubicBezTo>
                    <a:pt x="0" y="14523"/>
                    <a:pt x="2082" y="9495"/>
                    <a:pt x="5789" y="5789"/>
                  </a:cubicBezTo>
                  <a:cubicBezTo>
                    <a:pt x="9495" y="2082"/>
                    <a:pt x="14523" y="0"/>
                    <a:pt x="19764" y="0"/>
                  </a:cubicBezTo>
                  <a:close/>
                </a:path>
              </a:pathLst>
            </a:custGeom>
            <a:blipFill>
              <a:blip r:embed="rId2"/>
              <a:stretch>
                <a:fillRect l="-2065" t="-38771" b="-3358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Freeform 5"/>
          <p:cNvSpPr/>
          <p:nvPr/>
        </p:nvSpPr>
        <p:spPr>
          <a:xfrm>
            <a:off x="-2612704" y="3487610"/>
            <a:ext cx="5782737" cy="5770690"/>
          </a:xfrm>
          <a:custGeom>
            <a:avLst/>
            <a:gdLst/>
            <a:ahLst/>
            <a:cxnLst/>
            <a:rect l="l" t="t" r="r" b="b"/>
            <a:pathLst>
              <a:path w="5782737" h="5770690">
                <a:moveTo>
                  <a:pt x="0" y="0"/>
                </a:moveTo>
                <a:lnTo>
                  <a:pt x="5782737" y="0"/>
                </a:lnTo>
                <a:lnTo>
                  <a:pt x="5782737" y="5770690"/>
                </a:lnTo>
                <a:lnTo>
                  <a:pt x="0" y="57706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6" name="Freeform 6"/>
          <p:cNvSpPr/>
          <p:nvPr/>
        </p:nvSpPr>
        <p:spPr>
          <a:xfrm>
            <a:off x="4619052" y="2348144"/>
            <a:ext cx="826601" cy="828107"/>
          </a:xfrm>
          <a:custGeom>
            <a:avLst/>
            <a:gdLst/>
            <a:ahLst/>
            <a:cxnLst/>
            <a:rect l="l" t="t" r="r" b="b"/>
            <a:pathLst>
              <a:path w="826601" h="828107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7" name="TextBox 7"/>
          <p:cNvSpPr txBox="1"/>
          <p:nvPr/>
        </p:nvSpPr>
        <p:spPr>
          <a:xfrm>
            <a:off x="1707716" y="2104988"/>
            <a:ext cx="6043800" cy="107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Scope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249950" y="5266100"/>
            <a:ext cx="9658497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The</a:t>
            </a: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project covers: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50461" y="8541701"/>
            <a:ext cx="5506399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Estimated duration: 5 months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50461" y="5703750"/>
            <a:ext cx="9008839" cy="2799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Kanban Board with basic functionalities.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Differentiated user roles and permissions.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Data export and personalized templates (or custom templates).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User interaction.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AI implementation.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Real-time data visualization (Dashboard).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3657531"/>
            <a:ext cx="18463506" cy="9525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-2463083" y="3956371"/>
            <a:ext cx="5782737" cy="5770690"/>
          </a:xfrm>
          <a:custGeom>
            <a:avLst/>
            <a:gdLst/>
            <a:ahLst/>
            <a:cxnLst/>
            <a:rect l="l" t="t" r="r" b="b"/>
            <a:pathLst>
              <a:path w="5782737" h="5770690">
                <a:moveTo>
                  <a:pt x="0" y="0"/>
                </a:moveTo>
                <a:lnTo>
                  <a:pt x="5782738" y="0"/>
                </a:lnTo>
                <a:lnTo>
                  <a:pt x="5782738" y="5770690"/>
                </a:lnTo>
                <a:lnTo>
                  <a:pt x="0" y="57706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4619052" y="2348144"/>
            <a:ext cx="826601" cy="828107"/>
          </a:xfrm>
          <a:custGeom>
            <a:avLst/>
            <a:gdLst/>
            <a:ahLst/>
            <a:cxnLst/>
            <a:rect l="l" t="t" r="r" b="b"/>
            <a:pathLst>
              <a:path w="826601" h="828107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8460596" y="2586269"/>
            <a:ext cx="6043800" cy="107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Limitations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853343" y="4070786"/>
            <a:ext cx="4629153" cy="2119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01. Extremely Tight Schedule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Very tight time frame for some members.</a:t>
            </a:r>
          </a:p>
          <a:p>
            <a:pPr algn="l">
              <a:lnSpc>
                <a:spcPts val="3376"/>
              </a:lnSpc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algn="l">
              <a:lnSpc>
                <a:spcPts val="3376"/>
              </a:lnSpc>
              <a:spcBef>
                <a:spcPct val="0"/>
              </a:spcBef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6853343" y="7028806"/>
            <a:ext cx="4495200" cy="2548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03. Technical Complexity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Simultaneous AI + Kanban integration.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Learning curve for Angular, PrismaDB, and Docker.</a:t>
            </a:r>
          </a:p>
          <a:p>
            <a:pPr algn="l">
              <a:lnSpc>
                <a:spcPts val="3376"/>
              </a:lnSpc>
              <a:spcBef>
                <a:spcPct val="0"/>
              </a:spcBef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882546" y="3918271"/>
            <a:ext cx="4417596" cy="2119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04. Team Coordination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4 different roles (Dev, PO, Scrum Master, QA).</a:t>
            </a:r>
          </a:p>
          <a:p>
            <a:pPr marL="520701" lvl="1" indent="-260350" algn="l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Constant communication required.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53343" y="5579000"/>
            <a:ext cx="4039404" cy="1262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02.  Limited Resources</a:t>
            </a:r>
          </a:p>
          <a:p>
            <a:pPr marL="520701" lvl="1" indent="-260350" algn="l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Free APIs with restrictions.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882546" y="6257288"/>
            <a:ext cx="4417596" cy="2119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05. Reduced Scope</a:t>
            </a:r>
          </a:p>
          <a:p>
            <a:pPr marL="520701" lvl="1" indent="-260350" algn="l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Does not include: external integrations, BI (Business Intelligence), push notifications.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882546" y="8443790"/>
            <a:ext cx="4495200" cy="1691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06. Limited Validation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Little time for feedback from real users.</a:t>
            </a:r>
          </a:p>
          <a:p>
            <a:pPr algn="l">
              <a:lnSpc>
                <a:spcPts val="3376"/>
              </a:lnSpc>
              <a:spcBef>
                <a:spcPct val="0"/>
              </a:spcBef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3061825" y="-835725"/>
            <a:ext cx="6339891" cy="6345178"/>
          </a:xfrm>
          <a:custGeom>
            <a:avLst/>
            <a:gdLst/>
            <a:ahLst/>
            <a:cxnLst/>
            <a:rect l="l" t="t" r="r" b="b"/>
            <a:pathLst>
              <a:path w="6339891" h="6345178">
                <a:moveTo>
                  <a:pt x="0" y="0"/>
                </a:moveTo>
                <a:lnTo>
                  <a:pt x="6339890" y="0"/>
                </a:lnTo>
                <a:lnTo>
                  <a:pt x="6339890" y="6345178"/>
                </a:lnTo>
                <a:lnTo>
                  <a:pt x="0" y="63451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3061825" y="5509453"/>
            <a:ext cx="3039700" cy="3026191"/>
          </a:xfrm>
          <a:custGeom>
            <a:avLst/>
            <a:gdLst/>
            <a:ahLst/>
            <a:cxnLst/>
            <a:rect l="l" t="t" r="r" b="b"/>
            <a:pathLst>
              <a:path w="3039700" h="3026191">
                <a:moveTo>
                  <a:pt x="0" y="0"/>
                </a:moveTo>
                <a:lnTo>
                  <a:pt x="3039700" y="0"/>
                </a:lnTo>
                <a:lnTo>
                  <a:pt x="3039700" y="3026191"/>
                </a:lnTo>
                <a:lnTo>
                  <a:pt x="0" y="30261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7889823" y="5537907"/>
            <a:ext cx="3038065" cy="2997737"/>
          </a:xfrm>
          <a:custGeom>
            <a:avLst/>
            <a:gdLst/>
            <a:ahLst/>
            <a:cxnLst/>
            <a:rect l="l" t="t" r="r" b="b"/>
            <a:pathLst>
              <a:path w="3038065" h="2997737">
                <a:moveTo>
                  <a:pt x="0" y="0"/>
                </a:moveTo>
                <a:lnTo>
                  <a:pt x="3038065" y="0"/>
                </a:lnTo>
                <a:lnTo>
                  <a:pt x="3038065" y="2997737"/>
                </a:lnTo>
                <a:lnTo>
                  <a:pt x="0" y="29977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Freeform 5"/>
          <p:cNvSpPr/>
          <p:nvPr/>
        </p:nvSpPr>
        <p:spPr>
          <a:xfrm>
            <a:off x="2422627" y="5509453"/>
            <a:ext cx="3119960" cy="3026191"/>
          </a:xfrm>
          <a:custGeom>
            <a:avLst/>
            <a:gdLst/>
            <a:ahLst/>
            <a:cxnLst/>
            <a:rect l="l" t="t" r="r" b="b"/>
            <a:pathLst>
              <a:path w="3119960" h="3026191">
                <a:moveTo>
                  <a:pt x="0" y="0"/>
                </a:moveTo>
                <a:lnTo>
                  <a:pt x="3119961" y="0"/>
                </a:lnTo>
                <a:lnTo>
                  <a:pt x="3119961" y="3026191"/>
                </a:lnTo>
                <a:lnTo>
                  <a:pt x="0" y="30261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6022" t="-7344" r="-25108" b="-3203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6" name="TextBox 6"/>
          <p:cNvSpPr txBox="1"/>
          <p:nvPr/>
        </p:nvSpPr>
        <p:spPr>
          <a:xfrm>
            <a:off x="1951980" y="4361896"/>
            <a:ext cx="4061255" cy="404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2"/>
              </a:lnSpc>
              <a:spcBef>
                <a:spcPct val="0"/>
              </a:spcBef>
            </a:pPr>
            <a:r>
              <a:rPr lang="en-US" sz="2451" b="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SCRUM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043468" y="4349864"/>
            <a:ext cx="2710484" cy="387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spcBef>
                <a:spcPct val="0"/>
              </a:spcBef>
            </a:pPr>
            <a:r>
              <a:rPr lang="en-US" sz="2351" b="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KANBAN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307241" y="4407135"/>
            <a:ext cx="2548868" cy="797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spcBef>
                <a:spcPct val="0"/>
              </a:spcBef>
            </a:pPr>
            <a:r>
              <a:rPr lang="en-US" sz="2351" b="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25010 AND  27001</a:t>
            </a:r>
          </a:p>
        </p:txBody>
      </p:sp>
      <p:sp>
        <p:nvSpPr>
          <p:cNvPr id="9" name="AutoShape 9"/>
          <p:cNvSpPr/>
          <p:nvPr/>
        </p:nvSpPr>
        <p:spPr>
          <a:xfrm>
            <a:off x="-209176" y="9258300"/>
            <a:ext cx="18931484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10" name="Group 10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768089" y="2602326"/>
            <a:ext cx="11822785" cy="107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Applied Methodologies</a:t>
            </a:r>
          </a:p>
        </p:txBody>
      </p: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572389" y="321523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7" y="0"/>
                </a:lnTo>
                <a:lnTo>
                  <a:pt x="7959067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573068" y="2887925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2255188" y="2450949"/>
            <a:ext cx="13777625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Schedule / Timeline</a:t>
            </a:r>
          </a:p>
        </p:txBody>
      </p:sp>
    </p:spTree>
  </p:cSld>
  <p:clrMapOvr>
    <a:masterClrMapping/>
  </p:clrMapOvr>
  <p:transition spd="slow">
    <p:push dir="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1888" b="-11888"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9223" r="-59223"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345427"/>
            <a:ext cx="18085389" cy="6912873"/>
          </a:xfrm>
          <a:custGeom>
            <a:avLst/>
            <a:gdLst/>
            <a:ahLst/>
            <a:cxnLst/>
            <a:rect l="l" t="t" r="r" b="b"/>
            <a:pathLst>
              <a:path w="18085389" h="6912873">
                <a:moveTo>
                  <a:pt x="0" y="0"/>
                </a:moveTo>
                <a:lnTo>
                  <a:pt x="18085389" y="0"/>
                </a:lnTo>
                <a:lnTo>
                  <a:pt x="18085389" y="6912873"/>
                </a:lnTo>
                <a:lnTo>
                  <a:pt x="0" y="69128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0983" t="-292" r="-1897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3711315" y="-6105319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4" name="Group 4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5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 flipH="1" flipV="1">
            <a:off x="-1635054" y="4663396"/>
            <a:ext cx="7418824" cy="7425012"/>
          </a:xfrm>
          <a:custGeom>
            <a:avLst/>
            <a:gdLst/>
            <a:ahLst/>
            <a:cxnLst/>
            <a:rect l="l" t="t" r="r" b="b"/>
            <a:pathLst>
              <a:path w="7418824" h="7425012">
                <a:moveTo>
                  <a:pt x="7418824" y="7425012"/>
                </a:moveTo>
                <a:lnTo>
                  <a:pt x="0" y="7425012"/>
                </a:lnTo>
                <a:lnTo>
                  <a:pt x="0" y="0"/>
                </a:lnTo>
                <a:lnTo>
                  <a:pt x="7418824" y="0"/>
                </a:lnTo>
                <a:lnTo>
                  <a:pt x="7418824" y="742501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1825415" y="4585267"/>
            <a:ext cx="824630" cy="82463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01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883393" y="5018521"/>
            <a:ext cx="4521213" cy="4385469"/>
            <a:chOff x="0" y="0"/>
            <a:chExt cx="1190772" cy="1155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90772" cy="1155021"/>
            </a:xfrm>
            <a:custGeom>
              <a:avLst/>
              <a:gdLst/>
              <a:ahLst/>
              <a:cxnLst/>
              <a:rect l="l" t="t" r="r" b="b"/>
              <a:pathLst>
                <a:path w="1190772" h="1155021">
                  <a:moveTo>
                    <a:pt x="1190772" y="0"/>
                  </a:moveTo>
                  <a:lnTo>
                    <a:pt x="1190772" y="1040721"/>
                  </a:lnTo>
                  <a:lnTo>
                    <a:pt x="595386" y="1155021"/>
                  </a:lnTo>
                  <a:lnTo>
                    <a:pt x="0" y="1040721"/>
                  </a:lnTo>
                  <a:lnTo>
                    <a:pt x="0" y="0"/>
                  </a:lnTo>
                  <a:lnTo>
                    <a:pt x="119077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1190772" cy="1069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717220" y="4585267"/>
            <a:ext cx="824630" cy="82463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02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770805" y="5018521"/>
            <a:ext cx="4521213" cy="4385469"/>
            <a:chOff x="0" y="0"/>
            <a:chExt cx="1190772" cy="115502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90772" cy="1155021"/>
            </a:xfrm>
            <a:custGeom>
              <a:avLst/>
              <a:gdLst/>
              <a:ahLst/>
              <a:cxnLst/>
              <a:rect l="l" t="t" r="r" b="b"/>
              <a:pathLst>
                <a:path w="1190772" h="1155021">
                  <a:moveTo>
                    <a:pt x="1190772" y="0"/>
                  </a:moveTo>
                  <a:lnTo>
                    <a:pt x="1190772" y="1040721"/>
                  </a:lnTo>
                  <a:lnTo>
                    <a:pt x="595386" y="1155021"/>
                  </a:lnTo>
                  <a:lnTo>
                    <a:pt x="0" y="1040721"/>
                  </a:lnTo>
                  <a:lnTo>
                    <a:pt x="0" y="0"/>
                  </a:lnTo>
                  <a:lnTo>
                    <a:pt x="119077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190772" cy="1069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1604632" y="4606206"/>
            <a:ext cx="824630" cy="82463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03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3949944" y="6260622"/>
            <a:ext cx="2294980" cy="1527205"/>
          </a:xfrm>
          <a:custGeom>
            <a:avLst/>
            <a:gdLst/>
            <a:ahLst/>
            <a:cxnLst/>
            <a:rect l="l" t="t" r="r" b="b"/>
            <a:pathLst>
              <a:path w="2294980" h="1527205">
                <a:moveTo>
                  <a:pt x="0" y="0"/>
                </a:moveTo>
                <a:lnTo>
                  <a:pt x="2294980" y="0"/>
                </a:lnTo>
                <a:lnTo>
                  <a:pt x="2294980" y="1527205"/>
                </a:lnTo>
                <a:lnTo>
                  <a:pt x="0" y="15272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9" name="Freeform 19"/>
          <p:cNvSpPr/>
          <p:nvPr/>
        </p:nvSpPr>
        <p:spPr>
          <a:xfrm>
            <a:off x="13666556" y="6358459"/>
            <a:ext cx="2312839" cy="1527205"/>
          </a:xfrm>
          <a:custGeom>
            <a:avLst/>
            <a:gdLst/>
            <a:ahLst/>
            <a:cxnLst/>
            <a:rect l="l" t="t" r="r" b="b"/>
            <a:pathLst>
              <a:path w="2312839" h="1527205">
                <a:moveTo>
                  <a:pt x="0" y="0"/>
                </a:moveTo>
                <a:lnTo>
                  <a:pt x="2312839" y="0"/>
                </a:lnTo>
                <a:lnTo>
                  <a:pt x="2312839" y="1527204"/>
                </a:lnTo>
                <a:lnTo>
                  <a:pt x="0" y="15272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5279" b="-5279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20" name="TextBox 20"/>
          <p:cNvSpPr txBox="1"/>
          <p:nvPr/>
        </p:nvSpPr>
        <p:spPr>
          <a:xfrm>
            <a:off x="2224558" y="2288836"/>
            <a:ext cx="15034742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Technologies and Tools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23" name="Freeform 23"/>
          <p:cNvSpPr/>
          <p:nvPr/>
        </p:nvSpPr>
        <p:spPr>
          <a:xfrm>
            <a:off x="8878573" y="6095839"/>
            <a:ext cx="2426606" cy="1107415"/>
          </a:xfrm>
          <a:custGeom>
            <a:avLst/>
            <a:gdLst/>
            <a:ahLst/>
            <a:cxnLst/>
            <a:rect l="l" t="t" r="r" b="b"/>
            <a:pathLst>
              <a:path w="2426606" h="1107415">
                <a:moveTo>
                  <a:pt x="0" y="0"/>
                </a:moveTo>
                <a:lnTo>
                  <a:pt x="2426606" y="0"/>
                </a:lnTo>
                <a:lnTo>
                  <a:pt x="2426606" y="1107415"/>
                </a:lnTo>
                <a:lnTo>
                  <a:pt x="0" y="11074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24" name="TextBox 24"/>
          <p:cNvSpPr txBox="1"/>
          <p:nvPr/>
        </p:nvSpPr>
        <p:spPr>
          <a:xfrm>
            <a:off x="2468341" y="5933772"/>
            <a:ext cx="3576495" cy="438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Angular.</a:t>
            </a:r>
          </a:p>
          <a:p>
            <a:pPr algn="l">
              <a:lnSpc>
                <a:spcPts val="1785"/>
              </a:lnSpc>
            </a:pPr>
            <a:endParaRPr lang="en-US" sz="1553" spc="6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2234104" y="6983842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Miro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468341" y="7121234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ExpressJS.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55752" y="6845009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Notion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234104" y="6575201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Excel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477400" y="7797352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PostgreSQL.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91712" y="7320326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Visual Studio Code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468341" y="6479951"/>
            <a:ext cx="3576495" cy="438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PrismaDB</a:t>
            </a:r>
          </a:p>
          <a:p>
            <a:pPr algn="l">
              <a:lnSpc>
                <a:spcPts val="1785"/>
              </a:lnSpc>
            </a:pPr>
            <a:endParaRPr lang="en-US" sz="1553" spc="6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-2827377" y="4536624"/>
            <a:ext cx="14367955" cy="377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BackEnd/FrontEnd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931929" y="4536624"/>
            <a:ext cx="14367955" cy="377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Suppport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355752" y="5894376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GitHub y Git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355752" y="6369693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Figma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234104" y="4568106"/>
            <a:ext cx="4272516" cy="377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Planification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391712" y="7795643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Data Modeler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2234104" y="5761960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User Story Map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234104" y="6170601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Roadmap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391712" y="8270959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Docker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468341" y="8270959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Tailwindcss</a:t>
            </a:r>
          </a:p>
        </p:txBody>
      </p:sp>
      <p:sp>
        <p:nvSpPr>
          <p:cNvPr id="42" name="AutoShape 42"/>
          <p:cNvSpPr/>
          <p:nvPr/>
        </p:nvSpPr>
        <p:spPr>
          <a:xfrm>
            <a:off x="0" y="3657531"/>
            <a:ext cx="18463506" cy="9525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423374" y="982863"/>
            <a:ext cx="11156860" cy="8020024"/>
            <a:chOff x="0" y="0"/>
            <a:chExt cx="1257272" cy="90378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7272" cy="903781"/>
            </a:xfrm>
            <a:custGeom>
              <a:avLst/>
              <a:gdLst/>
              <a:ahLst/>
              <a:cxnLst/>
              <a:rect l="l" t="t" r="r" b="b"/>
              <a:pathLst>
                <a:path w="1257272" h="903781">
                  <a:moveTo>
                    <a:pt x="15960" y="0"/>
                  </a:moveTo>
                  <a:lnTo>
                    <a:pt x="1241312" y="0"/>
                  </a:lnTo>
                  <a:cubicBezTo>
                    <a:pt x="1250127" y="0"/>
                    <a:pt x="1257272" y="7146"/>
                    <a:pt x="1257272" y="15960"/>
                  </a:cubicBezTo>
                  <a:lnTo>
                    <a:pt x="1257272" y="887821"/>
                  </a:lnTo>
                  <a:cubicBezTo>
                    <a:pt x="1257272" y="892053"/>
                    <a:pt x="1255591" y="896113"/>
                    <a:pt x="1252598" y="899106"/>
                  </a:cubicBezTo>
                  <a:cubicBezTo>
                    <a:pt x="1249605" y="902099"/>
                    <a:pt x="1245545" y="903781"/>
                    <a:pt x="1241312" y="903781"/>
                  </a:cubicBezTo>
                  <a:lnTo>
                    <a:pt x="15960" y="903781"/>
                  </a:lnTo>
                  <a:cubicBezTo>
                    <a:pt x="11727" y="903781"/>
                    <a:pt x="7668" y="902099"/>
                    <a:pt x="4675" y="899106"/>
                  </a:cubicBezTo>
                  <a:cubicBezTo>
                    <a:pt x="1682" y="896113"/>
                    <a:pt x="0" y="892053"/>
                    <a:pt x="0" y="887821"/>
                  </a:cubicBezTo>
                  <a:lnTo>
                    <a:pt x="0" y="15960"/>
                  </a:lnTo>
                  <a:cubicBezTo>
                    <a:pt x="0" y="11727"/>
                    <a:pt x="1682" y="7668"/>
                    <a:pt x="4675" y="4675"/>
                  </a:cubicBezTo>
                  <a:cubicBezTo>
                    <a:pt x="7668" y="1682"/>
                    <a:pt x="11727" y="0"/>
                    <a:pt x="15960" y="0"/>
                  </a:cubicBezTo>
                  <a:close/>
                </a:path>
              </a:pathLst>
            </a:custGeom>
            <a:blipFill>
              <a:blip r:embed="rId2"/>
              <a:stretch>
                <a:fillRect l="-891" r="-891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4" name="Freeform 4"/>
          <p:cNvSpPr/>
          <p:nvPr/>
        </p:nvSpPr>
        <p:spPr>
          <a:xfrm>
            <a:off x="4524008" y="4164769"/>
            <a:ext cx="826601" cy="828107"/>
          </a:xfrm>
          <a:custGeom>
            <a:avLst/>
            <a:gdLst/>
            <a:ahLst/>
            <a:cxnLst/>
            <a:rect l="l" t="t" r="r" b="b"/>
            <a:pathLst>
              <a:path w="826601" h="828107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899019" y="3690751"/>
            <a:ext cx="3876534" cy="166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56"/>
              </a:lnSpc>
            </a:pPr>
            <a:r>
              <a:rPr lang="en-US" sz="6951" spc="-556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Relational database</a:t>
            </a:r>
          </a:p>
        </p:txBody>
      </p:sp>
      <p:sp>
        <p:nvSpPr>
          <p:cNvPr id="6" name="AutoShape 6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7" name="Group 7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5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074730" y="9407969"/>
            <a:ext cx="218405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PostgreSQL</a:t>
            </a:r>
          </a:p>
        </p:txBody>
      </p:sp>
    </p:spTree>
  </p:cSld>
  <p:clrMapOvr>
    <a:masterClrMapping/>
  </p:clrMapOvr>
  <p:transition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3008689" y="2292823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TextBox 4"/>
          <p:cNvSpPr txBox="1"/>
          <p:nvPr/>
        </p:nvSpPr>
        <p:spPr>
          <a:xfrm>
            <a:off x="4513140" y="697293"/>
            <a:ext cx="9228490" cy="1034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39"/>
              </a:lnSpc>
            </a:pPr>
            <a:r>
              <a:rPr lang="en-US" sz="9271" spc="-927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Cash flow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pic>
        <p:nvPicPr>
          <p:cNvPr id="8" name="Imagen 7">
            <a:extLst>
              <a:ext uri="{FF2B5EF4-FFF2-40B4-BE49-F238E27FC236}">
                <a16:creationId xmlns:a16="http://schemas.microsoft.com/office/drawing/2014/main" id="{9DD63267-892D-C8A3-F799-46F7B8656B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932229"/>
            <a:ext cx="18288000" cy="7418007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027756" y="3499906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3639503" y="3397048"/>
            <a:ext cx="9274520" cy="2335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spc="-111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Program presentation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303732"/>
            <a:ext cx="3382072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027756" y="3303231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2"/>
                </a:lnTo>
                <a:lnTo>
                  <a:pt x="0" y="66269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3639503" y="3230108"/>
            <a:ext cx="9274520" cy="2335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Future improvements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303732"/>
            <a:ext cx="3382072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027756" y="3499906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4893355" y="4104105"/>
            <a:ext cx="9274520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Thank you!!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303732"/>
            <a:ext cx="3382072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501</Words>
  <Application>Microsoft Office PowerPoint</Application>
  <PresentationFormat>Personalizado</PresentationFormat>
  <Paragraphs>128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9" baseType="lpstr">
      <vt:lpstr>Public Sans Medium</vt:lpstr>
      <vt:lpstr>Open Sans 1</vt:lpstr>
      <vt:lpstr>Public Sans Bold</vt:lpstr>
      <vt:lpstr>Public Sans</vt:lpstr>
      <vt:lpstr>Calibri</vt:lpstr>
      <vt:lpstr>Arial</vt:lpstr>
      <vt:lpstr>Open Sans 2</vt:lpstr>
      <vt:lpstr>Open Sans 2 Bold</vt:lpstr>
      <vt:lpstr>Open Sans 1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Copia de Gray Blue and Black Modern Business Presentation</dc:title>
  <cp:lastModifiedBy>RENATO JAVIER CHICAHUAL GALVEZ</cp:lastModifiedBy>
  <cp:revision>3</cp:revision>
  <dcterms:created xsi:type="dcterms:W3CDTF">2006-08-16T00:00:00Z</dcterms:created>
  <dcterms:modified xsi:type="dcterms:W3CDTF">2025-11-20T03:15:05Z</dcterms:modified>
  <dc:identifier>DAG5GrAod20</dc:identifier>
</cp:coreProperties>
</file>