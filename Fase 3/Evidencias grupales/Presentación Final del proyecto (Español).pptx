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Public Sans Medium" charset="1" panose="00000000000000000000"/>
      <p:regular r:id="rId25"/>
    </p:embeddedFont>
    <p:embeddedFont>
      <p:font typeface="Public Sans Bold" charset="1" panose="00000000000000000000"/>
      <p:regular r:id="rId26"/>
    </p:embeddedFont>
    <p:embeddedFont>
      <p:font typeface="Public Sans" charset="1" panose="00000000000000000000"/>
      <p:regular r:id="rId27"/>
    </p:embeddedFont>
    <p:embeddedFont>
      <p:font typeface="Open Sans 1 Bold" charset="1" panose="020B0806030504020204"/>
      <p:regular r:id="rId28"/>
    </p:embeddedFont>
    <p:embeddedFont>
      <p:font typeface="Open Sans 2 Bold" charset="1" panose="00000000000000000000"/>
      <p:regular r:id="rId29"/>
    </p:embeddedFont>
    <p:embeddedFont>
      <p:font typeface="Open Sans 1" charset="1" panose="020B0606030504020204"/>
      <p:regular r:id="rId30"/>
    </p:embeddedFont>
    <p:embeddedFont>
      <p:font typeface="Open Sans 2" charset="1" panose="000000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jpe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.png" Type="http://schemas.openxmlformats.org/officeDocument/2006/relationships/image"/><Relationship Id="rId7" Target="../media/image37.png" Type="http://schemas.openxmlformats.org/officeDocument/2006/relationships/image"/><Relationship Id="rId8" Target="../media/image3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jpe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.png" Type="http://schemas.openxmlformats.org/officeDocument/2006/relationships/image"/><Relationship Id="rId7" Target="../media/image4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33208" y="4862154"/>
            <a:ext cx="7959066" cy="8450746"/>
          </a:xfrm>
          <a:custGeom>
            <a:avLst/>
            <a:gdLst/>
            <a:ahLst/>
            <a:cxnLst/>
            <a:rect r="r" b="b" t="t" l="l"/>
            <a:pathLst>
              <a:path h="8450746" w="7959066">
                <a:moveTo>
                  <a:pt x="0" y="0"/>
                </a:moveTo>
                <a:lnTo>
                  <a:pt x="7959066" y="0"/>
                </a:lnTo>
                <a:lnTo>
                  <a:pt x="7959066" y="8450746"/>
                </a:lnTo>
                <a:lnTo>
                  <a:pt x="0" y="8450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79181" y="3898348"/>
            <a:ext cx="5050543" cy="1550789"/>
          </a:xfrm>
          <a:custGeom>
            <a:avLst/>
            <a:gdLst/>
            <a:ahLst/>
            <a:cxnLst/>
            <a:rect r="r" b="b" t="t" l="l"/>
            <a:pathLst>
              <a:path h="1550789" w="5050543">
                <a:moveTo>
                  <a:pt x="0" y="0"/>
                </a:moveTo>
                <a:lnTo>
                  <a:pt x="5050542" y="0"/>
                </a:lnTo>
                <a:lnTo>
                  <a:pt x="5050542" y="1550789"/>
                </a:lnTo>
                <a:lnTo>
                  <a:pt x="0" y="1550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3705" t="-136567" r="-50521" b="-14278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07352" y="4199688"/>
            <a:ext cx="5371829" cy="1249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18"/>
              </a:lnSpc>
            </a:pPr>
            <a:r>
              <a:rPr lang="en-US" b="true" sz="11193" spc="-1119">
                <a:solidFill>
                  <a:srgbClr val="F1F1F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Proyecto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16064" y="6070166"/>
            <a:ext cx="6025168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1F1F1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PRESENTACION FINAL CAPSTONE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60291" y="-1435764"/>
            <a:ext cx="5482615" cy="4231373"/>
            <a:chOff x="0" y="0"/>
            <a:chExt cx="905432" cy="698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78" y="0"/>
                  </a:moveTo>
                  <a:lnTo>
                    <a:pt x="872954" y="0"/>
                  </a:lnTo>
                  <a:cubicBezTo>
                    <a:pt x="881568" y="0"/>
                    <a:pt x="889829" y="3422"/>
                    <a:pt x="895920" y="9513"/>
                  </a:cubicBezTo>
                  <a:cubicBezTo>
                    <a:pt x="902011" y="15603"/>
                    <a:pt x="905432" y="23864"/>
                    <a:pt x="905432" y="32478"/>
                  </a:cubicBezTo>
                  <a:lnTo>
                    <a:pt x="905432" y="666317"/>
                  </a:lnTo>
                  <a:cubicBezTo>
                    <a:pt x="905432" y="674930"/>
                    <a:pt x="902011" y="683191"/>
                    <a:pt x="895920" y="689282"/>
                  </a:cubicBezTo>
                  <a:cubicBezTo>
                    <a:pt x="889829" y="695373"/>
                    <a:pt x="881568" y="698795"/>
                    <a:pt x="872954" y="698795"/>
                  </a:cubicBezTo>
                  <a:lnTo>
                    <a:pt x="32478" y="698795"/>
                  </a:lnTo>
                  <a:cubicBezTo>
                    <a:pt x="23864" y="698795"/>
                    <a:pt x="15603" y="695373"/>
                    <a:pt x="9513" y="689282"/>
                  </a:cubicBezTo>
                  <a:cubicBezTo>
                    <a:pt x="3422" y="683191"/>
                    <a:pt x="0" y="674930"/>
                    <a:pt x="0" y="666317"/>
                  </a:cubicBezTo>
                  <a:lnTo>
                    <a:pt x="0" y="32478"/>
                  </a:lnTo>
                  <a:cubicBezTo>
                    <a:pt x="0" y="23864"/>
                    <a:pt x="3422" y="15603"/>
                    <a:pt x="9513" y="9513"/>
                  </a:cubicBezTo>
                  <a:cubicBezTo>
                    <a:pt x="15603" y="3422"/>
                    <a:pt x="23864" y="0"/>
                    <a:pt x="32478" y="0"/>
                  </a:cubicBezTo>
                  <a:close/>
                </a:path>
              </a:pathLst>
            </a:custGeom>
            <a:blipFill>
              <a:blip r:embed="rId2"/>
              <a:stretch>
                <a:fillRect l="-17658" t="0" r="-17658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flipV="true">
            <a:off x="-70012" y="3121203"/>
            <a:ext cx="18428024" cy="0"/>
          </a:xfrm>
          <a:prstGeom prst="line">
            <a:avLst/>
          </a:prstGeom>
          <a:ln cap="flat" w="19050">
            <a:solidFill>
              <a:srgbClr val="00BB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2581095" y="-12217"/>
            <a:ext cx="8703161" cy="8710420"/>
          </a:xfrm>
          <a:custGeom>
            <a:avLst/>
            <a:gdLst/>
            <a:ahLst/>
            <a:cxnLst/>
            <a:rect r="r" b="b" t="t" l="l"/>
            <a:pathLst>
              <a:path h="8710420" w="8703161">
                <a:moveTo>
                  <a:pt x="0" y="0"/>
                </a:moveTo>
                <a:lnTo>
                  <a:pt x="8703162" y="0"/>
                </a:lnTo>
                <a:lnTo>
                  <a:pt x="8703162" y="8710420"/>
                </a:lnTo>
                <a:lnTo>
                  <a:pt x="0" y="87104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144000" y="1860674"/>
            <a:ext cx="185737" cy="18573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0" y="4813810"/>
            <a:ext cx="185737" cy="18573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686987" y="1963706"/>
            <a:ext cx="3285500" cy="1258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18"/>
              </a:lnSpc>
            </a:pPr>
            <a:r>
              <a:rPr lang="en-US" sz="11193" spc="-1119" b="true">
                <a:solidFill>
                  <a:srgbClr val="F1F1F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índice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31644" y="3781214"/>
            <a:ext cx="3935418" cy="462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Integrantes del Proyecto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9535" y="3177651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31644" y="4778278"/>
            <a:ext cx="3935418" cy="461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Problematica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9535" y="4195602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31644" y="5842792"/>
            <a:ext cx="3935418" cy="461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Solución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9535" y="5242717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31644" y="6909451"/>
            <a:ext cx="3935418" cy="461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Objectivos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99535" y="6337457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31644" y="7937022"/>
            <a:ext cx="3935418" cy="461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Alcance del proyecto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99535" y="7432197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321940" y="3776475"/>
            <a:ext cx="3935418" cy="461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Limitaciones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989831" y="3172912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321940" y="4773538"/>
            <a:ext cx="3935418" cy="461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Metodologías aplicadas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989831" y="4190863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7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321940" y="5838053"/>
            <a:ext cx="3935418" cy="461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Cronograma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989831" y="5237978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8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269160" y="6680488"/>
            <a:ext cx="3935418" cy="92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Tecnologias y herramientas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989831" y="6461282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9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321940" y="7932283"/>
            <a:ext cx="3935418" cy="92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Modelo de base de datos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989831" y="7465558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10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715689" y="3852675"/>
            <a:ext cx="4669832" cy="461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Flujo de caja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257359" y="3264864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715689" y="4828329"/>
            <a:ext cx="4415342" cy="461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Presentación del programa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257359" y="4282815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715689" y="5780585"/>
            <a:ext cx="3935418" cy="461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Futuras mejoras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257359" y="5329930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13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715689" y="6911938"/>
            <a:ext cx="3935418" cy="462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Preguntas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257359" y="6461282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14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41926" y="7012580"/>
            <a:ext cx="5859471" cy="2162678"/>
          </a:xfrm>
          <a:custGeom>
            <a:avLst/>
            <a:gdLst/>
            <a:ahLst/>
            <a:cxnLst/>
            <a:rect r="r" b="b" t="t" l="l"/>
            <a:pathLst>
              <a:path h="2162678" w="5859471">
                <a:moveTo>
                  <a:pt x="0" y="0"/>
                </a:moveTo>
                <a:lnTo>
                  <a:pt x="5859471" y="0"/>
                </a:lnTo>
                <a:lnTo>
                  <a:pt x="5859471" y="2162678"/>
                </a:lnTo>
                <a:lnTo>
                  <a:pt x="0" y="21626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174129"/>
            <a:ext cx="6552222" cy="1924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8000" spc="-64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</a:t>
            </a:r>
            <a:r>
              <a:rPr lang="en-US" sz="8000" spc="-64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ntegrantes del Proyecto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363666" y="3120580"/>
            <a:ext cx="3339070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JEFE DE PROYECTO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363666" y="3548251"/>
            <a:ext cx="543757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spc="-30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EDISON PARDO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363666" y="5118626"/>
            <a:ext cx="543757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spc="-30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RENATO CHICAHUAL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363666" y="4691516"/>
            <a:ext cx="3339070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SCRUM MASTER</a:t>
            </a:r>
          </a:p>
        </p:txBody>
      </p:sp>
      <p:sp>
        <p:nvSpPr>
          <p:cNvPr name="AutoShape 8" id="8"/>
          <p:cNvSpPr/>
          <p:nvPr/>
        </p:nvSpPr>
        <p:spPr>
          <a:xfrm>
            <a:off x="1028700" y="9258300"/>
            <a:ext cx="16230089" cy="0"/>
          </a:xfrm>
          <a:prstGeom prst="line">
            <a:avLst/>
          </a:prstGeom>
          <a:ln cap="flat" w="47625">
            <a:solidFill>
              <a:srgbClr val="00BB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1363666" y="6773320"/>
            <a:ext cx="543757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spc="-30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ALEXIS GONZÁLEZ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363666" y="6346210"/>
            <a:ext cx="3339070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DESARROLLADOR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63666" y="8390178"/>
            <a:ext cx="543757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spc="-30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DIEGO ACEVEDO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63666" y="7963068"/>
            <a:ext cx="3339070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QA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866797" y="-1294609"/>
            <a:ext cx="4839189" cy="5138135"/>
          </a:xfrm>
          <a:custGeom>
            <a:avLst/>
            <a:gdLst/>
            <a:ahLst/>
            <a:cxnLst/>
            <a:rect r="r" b="b" t="t" l="l"/>
            <a:pathLst>
              <a:path h="5138135" w="4839189">
                <a:moveTo>
                  <a:pt x="0" y="0"/>
                </a:moveTo>
                <a:lnTo>
                  <a:pt x="4839188" y="0"/>
                </a:lnTo>
                <a:lnTo>
                  <a:pt x="4839188" y="5138135"/>
                </a:lnTo>
                <a:lnTo>
                  <a:pt x="0" y="51381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-507891" y="-1283364"/>
            <a:ext cx="5482615" cy="4231373"/>
            <a:chOff x="0" y="0"/>
            <a:chExt cx="905432" cy="6987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78" y="0"/>
                  </a:moveTo>
                  <a:lnTo>
                    <a:pt x="872954" y="0"/>
                  </a:lnTo>
                  <a:cubicBezTo>
                    <a:pt x="881568" y="0"/>
                    <a:pt x="889829" y="3422"/>
                    <a:pt x="895920" y="9513"/>
                  </a:cubicBezTo>
                  <a:cubicBezTo>
                    <a:pt x="902011" y="15603"/>
                    <a:pt x="905432" y="23864"/>
                    <a:pt x="905432" y="32478"/>
                  </a:cubicBezTo>
                  <a:lnTo>
                    <a:pt x="905432" y="666317"/>
                  </a:lnTo>
                  <a:cubicBezTo>
                    <a:pt x="905432" y="674930"/>
                    <a:pt x="902011" y="683191"/>
                    <a:pt x="895920" y="689282"/>
                  </a:cubicBezTo>
                  <a:cubicBezTo>
                    <a:pt x="889829" y="695373"/>
                    <a:pt x="881568" y="698795"/>
                    <a:pt x="872954" y="698795"/>
                  </a:cubicBezTo>
                  <a:lnTo>
                    <a:pt x="32478" y="698795"/>
                  </a:lnTo>
                  <a:cubicBezTo>
                    <a:pt x="23864" y="698795"/>
                    <a:pt x="15603" y="695373"/>
                    <a:pt x="9513" y="689282"/>
                  </a:cubicBezTo>
                  <a:cubicBezTo>
                    <a:pt x="3422" y="683191"/>
                    <a:pt x="0" y="674930"/>
                    <a:pt x="0" y="666317"/>
                  </a:cubicBezTo>
                  <a:lnTo>
                    <a:pt x="0" y="32478"/>
                  </a:lnTo>
                  <a:cubicBezTo>
                    <a:pt x="0" y="23864"/>
                    <a:pt x="3422" y="15603"/>
                    <a:pt x="9513" y="9513"/>
                  </a:cubicBezTo>
                  <a:cubicBezTo>
                    <a:pt x="15603" y="3422"/>
                    <a:pt x="23864" y="0"/>
                    <a:pt x="32478" y="0"/>
                  </a:cubicBezTo>
                  <a:close/>
                </a:path>
              </a:pathLst>
            </a:custGeom>
            <a:blipFill>
              <a:blip r:embed="rId6"/>
              <a:stretch>
                <a:fillRect l="-17658" t="0" r="-17658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86760" y="8686339"/>
            <a:ext cx="4755052" cy="5048801"/>
          </a:xfrm>
          <a:custGeom>
            <a:avLst/>
            <a:gdLst/>
            <a:ahLst/>
            <a:cxnLst/>
            <a:rect r="r" b="b" t="t" l="l"/>
            <a:pathLst>
              <a:path h="5048801" w="4755052">
                <a:moveTo>
                  <a:pt x="0" y="0"/>
                </a:moveTo>
                <a:lnTo>
                  <a:pt x="4755052" y="0"/>
                </a:lnTo>
                <a:lnTo>
                  <a:pt x="4755052" y="5048801"/>
                </a:lnTo>
                <a:lnTo>
                  <a:pt x="0" y="50488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6121" y="2679789"/>
            <a:ext cx="9716331" cy="6818619"/>
            <a:chOff x="0" y="0"/>
            <a:chExt cx="1117832" cy="7844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17832" cy="784460"/>
            </a:xfrm>
            <a:custGeom>
              <a:avLst/>
              <a:gdLst/>
              <a:ahLst/>
              <a:cxnLst/>
              <a:rect r="r" b="b" t="t" l="l"/>
              <a:pathLst>
                <a:path h="784460" w="1117832">
                  <a:moveTo>
                    <a:pt x="18326" y="0"/>
                  </a:moveTo>
                  <a:lnTo>
                    <a:pt x="1099506" y="0"/>
                  </a:lnTo>
                  <a:cubicBezTo>
                    <a:pt x="1104366" y="0"/>
                    <a:pt x="1109028" y="1931"/>
                    <a:pt x="1112464" y="5368"/>
                  </a:cubicBezTo>
                  <a:cubicBezTo>
                    <a:pt x="1115901" y="8804"/>
                    <a:pt x="1117832" y="13466"/>
                    <a:pt x="1117832" y="18326"/>
                  </a:cubicBezTo>
                  <a:lnTo>
                    <a:pt x="1117832" y="766134"/>
                  </a:lnTo>
                  <a:cubicBezTo>
                    <a:pt x="1117832" y="770994"/>
                    <a:pt x="1115901" y="775655"/>
                    <a:pt x="1112464" y="779092"/>
                  </a:cubicBezTo>
                  <a:cubicBezTo>
                    <a:pt x="1109028" y="782529"/>
                    <a:pt x="1104366" y="784460"/>
                    <a:pt x="1099506" y="784460"/>
                  </a:cubicBezTo>
                  <a:lnTo>
                    <a:pt x="18326" y="784460"/>
                  </a:lnTo>
                  <a:cubicBezTo>
                    <a:pt x="8205" y="784460"/>
                    <a:pt x="0" y="776255"/>
                    <a:pt x="0" y="766134"/>
                  </a:cubicBezTo>
                  <a:lnTo>
                    <a:pt x="0" y="18326"/>
                  </a:lnTo>
                  <a:cubicBezTo>
                    <a:pt x="0" y="13466"/>
                    <a:pt x="1931" y="8804"/>
                    <a:pt x="5368" y="5368"/>
                  </a:cubicBezTo>
                  <a:cubicBezTo>
                    <a:pt x="8804" y="1931"/>
                    <a:pt x="13466" y="0"/>
                    <a:pt x="18326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9759" r="0" b="-9759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943589" y="-414788"/>
            <a:ext cx="7315200" cy="3976809"/>
          </a:xfrm>
          <a:custGeom>
            <a:avLst/>
            <a:gdLst/>
            <a:ahLst/>
            <a:cxnLst/>
            <a:rect r="r" b="b" t="t" l="l"/>
            <a:pathLst>
              <a:path h="3976809" w="7315200">
                <a:moveTo>
                  <a:pt x="0" y="0"/>
                </a:moveTo>
                <a:lnTo>
                  <a:pt x="7315200" y="0"/>
                </a:lnTo>
                <a:lnTo>
                  <a:pt x="7315200" y="3976809"/>
                </a:lnTo>
                <a:lnTo>
                  <a:pt x="0" y="39768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96025" y="1520674"/>
            <a:ext cx="5736522" cy="100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8000" spc="-640">
                <a:solidFill>
                  <a:srgbClr val="00BB13"/>
                </a:solidFill>
                <a:latin typeface="Public Sans"/>
                <a:ea typeface="Public Sans"/>
                <a:cs typeface="Public Sans"/>
                <a:sym typeface="Public Sans"/>
              </a:rPr>
              <a:t>Problemática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52072" y="4076832"/>
            <a:ext cx="7446222" cy="4609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  <a:spcBef>
                <a:spcPct val="0"/>
              </a:spcBef>
            </a:pPr>
            <a:r>
              <a:rPr lang="en-US" sz="2023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Actualmente, muchas Pymes, startups, estudiantes y equipos educativos enfrentan dificultades para gestionar proyectos de manera eficiente debido a:</a:t>
            </a:r>
          </a:p>
          <a:p>
            <a:pPr algn="l">
              <a:lnSpc>
                <a:spcPts val="2833"/>
              </a:lnSpc>
              <a:spcBef>
                <a:spcPct val="0"/>
              </a:spcBef>
            </a:pPr>
          </a:p>
          <a:p>
            <a:pPr algn="l" marL="436916" indent="-218458" lvl="1">
              <a:lnSpc>
                <a:spcPts val="2833"/>
              </a:lnSpc>
              <a:buFont typeface="Arial"/>
              <a:buChar char="•"/>
            </a:pPr>
            <a:r>
              <a:rPr lang="en-US" sz="2023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Herramientas costosas: Plataformas como Jira o Notion u otros, tienen planes premium inaccesibles para pequeños presupuestos.</a:t>
            </a:r>
          </a:p>
          <a:p>
            <a:pPr algn="l">
              <a:lnSpc>
                <a:spcPts val="2833"/>
              </a:lnSpc>
            </a:pPr>
          </a:p>
          <a:p>
            <a:pPr algn="l" marL="436916" indent="-218458" lvl="1">
              <a:lnSpc>
                <a:spcPts val="2833"/>
              </a:lnSpc>
              <a:buFont typeface="Arial"/>
              <a:buChar char="•"/>
            </a:pPr>
            <a:r>
              <a:rPr lang="en-US" sz="2023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Complejidad: Interfaces sobrecargadas que requieren capacitación prolongada.</a:t>
            </a:r>
          </a:p>
          <a:p>
            <a:pPr algn="l">
              <a:lnSpc>
                <a:spcPts val="2833"/>
              </a:lnSpc>
            </a:pPr>
          </a:p>
          <a:p>
            <a:pPr algn="l" marL="436916" indent="-218458" lvl="1">
              <a:lnSpc>
                <a:spcPts val="2833"/>
              </a:lnSpc>
              <a:buFont typeface="Arial"/>
              <a:buChar char="•"/>
            </a:pPr>
            <a:r>
              <a:rPr lang="en-US" sz="2023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Falta de automatización: Las tareas repetitivas (documentación, descripciones) consumen tiempo valioso.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870776" y="-1551584"/>
            <a:ext cx="5482615" cy="4231373"/>
            <a:chOff x="0" y="0"/>
            <a:chExt cx="905432" cy="6987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78" y="0"/>
                  </a:moveTo>
                  <a:lnTo>
                    <a:pt x="872954" y="0"/>
                  </a:lnTo>
                  <a:cubicBezTo>
                    <a:pt x="881568" y="0"/>
                    <a:pt x="889829" y="3422"/>
                    <a:pt x="895920" y="9513"/>
                  </a:cubicBezTo>
                  <a:cubicBezTo>
                    <a:pt x="902011" y="15603"/>
                    <a:pt x="905432" y="23864"/>
                    <a:pt x="905432" y="32478"/>
                  </a:cubicBezTo>
                  <a:lnTo>
                    <a:pt x="905432" y="666317"/>
                  </a:lnTo>
                  <a:cubicBezTo>
                    <a:pt x="905432" y="674930"/>
                    <a:pt x="902011" y="683191"/>
                    <a:pt x="895920" y="689282"/>
                  </a:cubicBezTo>
                  <a:cubicBezTo>
                    <a:pt x="889829" y="695373"/>
                    <a:pt x="881568" y="698795"/>
                    <a:pt x="872954" y="698795"/>
                  </a:cubicBezTo>
                  <a:lnTo>
                    <a:pt x="32478" y="698795"/>
                  </a:lnTo>
                  <a:cubicBezTo>
                    <a:pt x="23864" y="698795"/>
                    <a:pt x="15603" y="695373"/>
                    <a:pt x="9513" y="689282"/>
                  </a:cubicBezTo>
                  <a:cubicBezTo>
                    <a:pt x="3422" y="683191"/>
                    <a:pt x="0" y="674930"/>
                    <a:pt x="0" y="666317"/>
                  </a:cubicBezTo>
                  <a:lnTo>
                    <a:pt x="0" y="32478"/>
                  </a:lnTo>
                  <a:cubicBezTo>
                    <a:pt x="0" y="23864"/>
                    <a:pt x="3422" y="15603"/>
                    <a:pt x="9513" y="9513"/>
                  </a:cubicBezTo>
                  <a:cubicBezTo>
                    <a:pt x="15603" y="3422"/>
                    <a:pt x="23864" y="0"/>
                    <a:pt x="32478" y="0"/>
                  </a:cubicBezTo>
                  <a:close/>
                </a:path>
              </a:pathLst>
            </a:custGeom>
            <a:blipFill>
              <a:blip r:embed="rId7"/>
              <a:stretch>
                <a:fillRect l="-17658" t="0" r="-17658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0443846" y="0"/>
            <a:ext cx="7844154" cy="7850697"/>
          </a:xfrm>
          <a:custGeom>
            <a:avLst/>
            <a:gdLst/>
            <a:ahLst/>
            <a:cxnLst/>
            <a:rect r="r" b="b" t="t" l="l"/>
            <a:pathLst>
              <a:path h="7850697" w="7844154">
                <a:moveTo>
                  <a:pt x="0" y="0"/>
                </a:moveTo>
                <a:lnTo>
                  <a:pt x="7844154" y="0"/>
                </a:lnTo>
                <a:lnTo>
                  <a:pt x="7844154" y="7850697"/>
                </a:lnTo>
                <a:lnTo>
                  <a:pt x="0" y="7850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954668" y="1794822"/>
            <a:ext cx="8887591" cy="5456315"/>
            <a:chOff x="0" y="0"/>
            <a:chExt cx="932330" cy="5723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32330" cy="572381"/>
            </a:xfrm>
            <a:custGeom>
              <a:avLst/>
              <a:gdLst/>
              <a:ahLst/>
              <a:cxnLst/>
              <a:rect r="r" b="b" t="t" l="l"/>
              <a:pathLst>
                <a:path h="572381" w="932330">
                  <a:moveTo>
                    <a:pt x="20035" y="0"/>
                  </a:moveTo>
                  <a:lnTo>
                    <a:pt x="912295" y="0"/>
                  </a:lnTo>
                  <a:cubicBezTo>
                    <a:pt x="917609" y="0"/>
                    <a:pt x="922705" y="2111"/>
                    <a:pt x="926462" y="5868"/>
                  </a:cubicBezTo>
                  <a:cubicBezTo>
                    <a:pt x="930219" y="9625"/>
                    <a:pt x="932330" y="14721"/>
                    <a:pt x="932330" y="20035"/>
                  </a:cubicBezTo>
                  <a:lnTo>
                    <a:pt x="932330" y="552346"/>
                  </a:lnTo>
                  <a:cubicBezTo>
                    <a:pt x="932330" y="557659"/>
                    <a:pt x="930219" y="562755"/>
                    <a:pt x="926462" y="566513"/>
                  </a:cubicBezTo>
                  <a:cubicBezTo>
                    <a:pt x="922705" y="570270"/>
                    <a:pt x="917609" y="572381"/>
                    <a:pt x="912295" y="572381"/>
                  </a:cubicBezTo>
                  <a:lnTo>
                    <a:pt x="20035" y="572381"/>
                  </a:lnTo>
                  <a:cubicBezTo>
                    <a:pt x="14721" y="572381"/>
                    <a:pt x="9625" y="570270"/>
                    <a:pt x="5868" y="566513"/>
                  </a:cubicBezTo>
                  <a:cubicBezTo>
                    <a:pt x="2111" y="562755"/>
                    <a:pt x="0" y="557659"/>
                    <a:pt x="0" y="552346"/>
                  </a:cubicBezTo>
                  <a:lnTo>
                    <a:pt x="0" y="20035"/>
                  </a:lnTo>
                  <a:cubicBezTo>
                    <a:pt x="0" y="14721"/>
                    <a:pt x="2111" y="9625"/>
                    <a:pt x="5868" y="5868"/>
                  </a:cubicBezTo>
                  <a:cubicBezTo>
                    <a:pt x="9625" y="2111"/>
                    <a:pt x="14721" y="0"/>
                    <a:pt x="20035" y="0"/>
                  </a:cubicBezTo>
                  <a:close/>
                </a:path>
              </a:pathLst>
            </a:custGeom>
            <a:blipFill>
              <a:blip r:embed="rId4"/>
              <a:stretch>
                <a:fillRect l="-18353" t="-14977" r="-19260" b="-11109"/>
              </a:stretch>
            </a:blipFill>
          </p:spPr>
        </p:sp>
      </p:grpSp>
      <p:sp>
        <p:nvSpPr>
          <p:cNvPr name="AutoShape 5" id="5"/>
          <p:cNvSpPr/>
          <p:nvPr/>
        </p:nvSpPr>
        <p:spPr>
          <a:xfrm>
            <a:off x="1028700" y="9258300"/>
            <a:ext cx="16230089" cy="0"/>
          </a:xfrm>
          <a:prstGeom prst="line">
            <a:avLst/>
          </a:prstGeom>
          <a:ln cap="flat" w="19050">
            <a:solidFill>
              <a:srgbClr val="00BB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6873041" y="1712674"/>
            <a:ext cx="780172" cy="2569428"/>
          </a:xfrm>
          <a:custGeom>
            <a:avLst/>
            <a:gdLst/>
            <a:ahLst/>
            <a:cxnLst/>
            <a:rect r="r" b="b" t="t" l="l"/>
            <a:pathLst>
              <a:path h="2569428" w="780172">
                <a:moveTo>
                  <a:pt x="0" y="0"/>
                </a:moveTo>
                <a:lnTo>
                  <a:pt x="780171" y="0"/>
                </a:lnTo>
                <a:lnTo>
                  <a:pt x="780171" y="2569427"/>
                </a:lnTo>
                <a:lnTo>
                  <a:pt x="0" y="25694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9017" y="2312355"/>
            <a:ext cx="5818947" cy="107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55"/>
              </a:lnSpc>
            </a:pPr>
            <a:r>
              <a:rPr lang="en-US" sz="8617" spc="-689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Solucion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0354" y="3856164"/>
            <a:ext cx="7518823" cy="5999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Nuestro propósito </a:t>
            </a:r>
            <a:r>
              <a:rPr lang="en-US" sz="2299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es diseñar y desarrollar un gestor Kanban inteligente con integración de IA, que sea accesible, automatizado y adaptado al mercado latinoamericano.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 Se justifica porque: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Responde a la falta de herramientas accesibles y usables para organizaciones pequeñas.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Ofrece una interfaz sencilla y en español, reduciendo la barrera de entrada.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Incluye IA para automatizar tareas como la documentación de proyectos.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5074730" y="9407969"/>
            <a:ext cx="218405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272727"/>
                </a:solidFill>
                <a:latin typeface="Public Sans"/>
                <a:ea typeface="Public Sans"/>
                <a:cs typeface="Public Sans"/>
                <a:sym typeface="Public Sans"/>
              </a:rPr>
              <a:t>Thynk Unlimited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-507891" y="-1283364"/>
            <a:ext cx="5482615" cy="4231373"/>
            <a:chOff x="0" y="0"/>
            <a:chExt cx="905432" cy="6987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78" y="0"/>
                  </a:moveTo>
                  <a:lnTo>
                    <a:pt x="872954" y="0"/>
                  </a:lnTo>
                  <a:cubicBezTo>
                    <a:pt x="881568" y="0"/>
                    <a:pt x="889829" y="3422"/>
                    <a:pt x="895920" y="9513"/>
                  </a:cubicBezTo>
                  <a:cubicBezTo>
                    <a:pt x="902011" y="15603"/>
                    <a:pt x="905432" y="23864"/>
                    <a:pt x="905432" y="32478"/>
                  </a:cubicBezTo>
                  <a:lnTo>
                    <a:pt x="905432" y="666317"/>
                  </a:lnTo>
                  <a:cubicBezTo>
                    <a:pt x="905432" y="674930"/>
                    <a:pt x="902011" y="683191"/>
                    <a:pt x="895920" y="689282"/>
                  </a:cubicBezTo>
                  <a:cubicBezTo>
                    <a:pt x="889829" y="695373"/>
                    <a:pt x="881568" y="698795"/>
                    <a:pt x="872954" y="698795"/>
                  </a:cubicBezTo>
                  <a:lnTo>
                    <a:pt x="32478" y="698795"/>
                  </a:lnTo>
                  <a:cubicBezTo>
                    <a:pt x="23864" y="698795"/>
                    <a:pt x="15603" y="695373"/>
                    <a:pt x="9513" y="689282"/>
                  </a:cubicBezTo>
                  <a:cubicBezTo>
                    <a:pt x="3422" y="683191"/>
                    <a:pt x="0" y="674930"/>
                    <a:pt x="0" y="666317"/>
                  </a:cubicBezTo>
                  <a:lnTo>
                    <a:pt x="0" y="32478"/>
                  </a:lnTo>
                  <a:cubicBezTo>
                    <a:pt x="0" y="23864"/>
                    <a:pt x="3422" y="15603"/>
                    <a:pt x="9513" y="9513"/>
                  </a:cubicBezTo>
                  <a:cubicBezTo>
                    <a:pt x="15603" y="3422"/>
                    <a:pt x="23864" y="0"/>
                    <a:pt x="32478" y="0"/>
                  </a:cubicBezTo>
                  <a:close/>
                </a:path>
              </a:pathLst>
            </a:custGeom>
            <a:blipFill>
              <a:blip r:embed="rId7"/>
              <a:stretch>
                <a:fillRect l="-17658" t="0" r="-17658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60395" y="3911219"/>
            <a:ext cx="1879267" cy="187926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37508" lIns="37508" bIns="37508" rIns="37508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25405" y="3907459"/>
            <a:ext cx="1883026" cy="188302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7508" lIns="37508" bIns="37508" rIns="37508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16583" y="6472721"/>
            <a:ext cx="1897654" cy="189765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8770" lIns="38770" bIns="38770" rIns="3877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60395" y="6524271"/>
            <a:ext cx="1881654" cy="188165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7508" lIns="37508" bIns="37508" rIns="37508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323829" y="4195991"/>
            <a:ext cx="952399" cy="1411913"/>
          </a:xfrm>
          <a:custGeom>
            <a:avLst/>
            <a:gdLst/>
            <a:ahLst/>
            <a:cxnLst/>
            <a:rect r="r" b="b" t="t" l="l"/>
            <a:pathLst>
              <a:path h="1411913" w="952399">
                <a:moveTo>
                  <a:pt x="0" y="0"/>
                </a:moveTo>
                <a:lnTo>
                  <a:pt x="952400" y="0"/>
                </a:lnTo>
                <a:lnTo>
                  <a:pt x="952400" y="1411913"/>
                </a:lnTo>
                <a:lnTo>
                  <a:pt x="0" y="1411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009650" y="4312945"/>
            <a:ext cx="973317" cy="1112940"/>
          </a:xfrm>
          <a:custGeom>
            <a:avLst/>
            <a:gdLst/>
            <a:ahLst/>
            <a:cxnLst/>
            <a:rect r="r" b="b" t="t" l="l"/>
            <a:pathLst>
              <a:path h="1112940" w="973317">
                <a:moveTo>
                  <a:pt x="0" y="0"/>
                </a:moveTo>
                <a:lnTo>
                  <a:pt x="973317" y="0"/>
                </a:lnTo>
                <a:lnTo>
                  <a:pt x="973317" y="1112941"/>
                </a:lnTo>
                <a:lnTo>
                  <a:pt x="0" y="11129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275352" y="6848491"/>
            <a:ext cx="1049354" cy="1233215"/>
          </a:xfrm>
          <a:custGeom>
            <a:avLst/>
            <a:gdLst/>
            <a:ahLst/>
            <a:cxnLst/>
            <a:rect r="r" b="b" t="t" l="l"/>
            <a:pathLst>
              <a:path h="1233215" w="1049354">
                <a:moveTo>
                  <a:pt x="0" y="0"/>
                </a:moveTo>
                <a:lnTo>
                  <a:pt x="1049354" y="0"/>
                </a:lnTo>
                <a:lnTo>
                  <a:pt x="1049354" y="1233215"/>
                </a:lnTo>
                <a:lnTo>
                  <a:pt x="0" y="12332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0800000">
            <a:off x="11522718" y="0"/>
            <a:ext cx="6765282" cy="6770925"/>
          </a:xfrm>
          <a:custGeom>
            <a:avLst/>
            <a:gdLst/>
            <a:ahLst/>
            <a:cxnLst/>
            <a:rect r="r" b="b" t="t" l="l"/>
            <a:pathLst>
              <a:path h="6770925" w="6765282">
                <a:moveTo>
                  <a:pt x="0" y="0"/>
                </a:moveTo>
                <a:lnTo>
                  <a:pt x="6765282" y="0"/>
                </a:lnTo>
                <a:lnTo>
                  <a:pt x="6765282" y="6770925"/>
                </a:lnTo>
                <a:lnTo>
                  <a:pt x="0" y="67709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232289" y="1512389"/>
            <a:ext cx="13049141" cy="1191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81"/>
              </a:lnSpc>
            </a:pPr>
            <a:r>
              <a:rPr lang="en-US" b="true" sz="8817" spc="305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OBJETIVOS</a:t>
            </a:r>
          </a:p>
        </p:txBody>
      </p:sp>
      <p:sp>
        <p:nvSpPr>
          <p:cNvPr name="AutoShape 19" id="19"/>
          <p:cNvSpPr/>
          <p:nvPr/>
        </p:nvSpPr>
        <p:spPr>
          <a:xfrm>
            <a:off x="1028700" y="9258300"/>
            <a:ext cx="16230089" cy="0"/>
          </a:xfrm>
          <a:prstGeom prst="line">
            <a:avLst/>
          </a:prstGeom>
          <a:ln cap="flat" w="19050">
            <a:solidFill>
              <a:srgbClr val="00BB1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-507891" y="-1283364"/>
            <a:ext cx="5480359" cy="4229632"/>
            <a:chOff x="0" y="0"/>
            <a:chExt cx="905432" cy="6987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91" y="0"/>
                  </a:moveTo>
                  <a:lnTo>
                    <a:pt x="872941" y="0"/>
                  </a:lnTo>
                  <a:cubicBezTo>
                    <a:pt x="881558" y="0"/>
                    <a:pt x="889823" y="3423"/>
                    <a:pt x="895916" y="9516"/>
                  </a:cubicBezTo>
                  <a:cubicBezTo>
                    <a:pt x="902009" y="15610"/>
                    <a:pt x="905432" y="23874"/>
                    <a:pt x="905432" y="32491"/>
                  </a:cubicBezTo>
                  <a:lnTo>
                    <a:pt x="905432" y="666303"/>
                  </a:lnTo>
                  <a:cubicBezTo>
                    <a:pt x="905432" y="684248"/>
                    <a:pt x="890886" y="698795"/>
                    <a:pt x="872941" y="698795"/>
                  </a:cubicBezTo>
                  <a:lnTo>
                    <a:pt x="32491" y="698795"/>
                  </a:lnTo>
                  <a:cubicBezTo>
                    <a:pt x="14547" y="698795"/>
                    <a:pt x="0" y="684248"/>
                    <a:pt x="0" y="666303"/>
                  </a:cubicBezTo>
                  <a:lnTo>
                    <a:pt x="0" y="32491"/>
                  </a:lnTo>
                  <a:cubicBezTo>
                    <a:pt x="0" y="23874"/>
                    <a:pt x="3423" y="15610"/>
                    <a:pt x="9516" y="9516"/>
                  </a:cubicBezTo>
                  <a:cubicBezTo>
                    <a:pt x="15610" y="3423"/>
                    <a:pt x="23874" y="0"/>
                    <a:pt x="32491" y="0"/>
                  </a:cubicBezTo>
                  <a:close/>
                </a:path>
              </a:pathLst>
            </a:custGeom>
            <a:blipFill>
              <a:blip r:embed="rId10"/>
              <a:stretch>
                <a:fillRect l="-17658" t="0" r="-17658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9822496" y="6884863"/>
            <a:ext cx="1160471" cy="1160471"/>
          </a:xfrm>
          <a:custGeom>
            <a:avLst/>
            <a:gdLst/>
            <a:ahLst/>
            <a:cxnLst/>
            <a:rect r="r" b="b" t="t" l="l"/>
            <a:pathLst>
              <a:path h="1160471" w="1160471">
                <a:moveTo>
                  <a:pt x="0" y="0"/>
                </a:moveTo>
                <a:lnTo>
                  <a:pt x="1160471" y="0"/>
                </a:lnTo>
                <a:lnTo>
                  <a:pt x="1160471" y="1160471"/>
                </a:lnTo>
                <a:lnTo>
                  <a:pt x="0" y="116047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594183" y="3513879"/>
            <a:ext cx="3071543" cy="348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6"/>
              </a:lnSpc>
              <a:spcBef>
                <a:spcPct val="0"/>
              </a:spcBef>
            </a:pPr>
            <a:r>
              <a:rPr lang="en-US" b="true" sz="2011" spc="-46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01. Accesibilidad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939939" y="3513879"/>
            <a:ext cx="3418129" cy="348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6"/>
              </a:lnSpc>
              <a:spcBef>
                <a:spcPct val="0"/>
              </a:spcBef>
            </a:pPr>
            <a:r>
              <a:rPr lang="en-US" b="true" sz="2011" spc="-46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03. Escalabilidad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998949" y="6421974"/>
            <a:ext cx="3359119" cy="348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6"/>
              </a:lnSpc>
              <a:spcBef>
                <a:spcPct val="0"/>
              </a:spcBef>
            </a:pPr>
            <a:r>
              <a:rPr lang="en-US" b="true" sz="2011" spc="-46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04. Automatización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594183" y="6421974"/>
            <a:ext cx="3071543" cy="348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6"/>
              </a:lnSpc>
              <a:spcBef>
                <a:spcPct val="0"/>
              </a:spcBef>
            </a:pPr>
            <a:r>
              <a:rPr lang="en-US" b="true" sz="2011" spc="-46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02. Organización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594183" y="4005731"/>
            <a:ext cx="2689114" cy="137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645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Ofrecer una plataforma accesible y con una interfaz intuitiva para reducir  grandes cantidades de informacion.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594183" y="7067664"/>
            <a:ext cx="2933584" cy="1071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645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Facilitar la gestión de tareas, roles, permisos y flujos de trabajo mediante un tablero Kanban intuitivo.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939939" y="4005731"/>
            <a:ext cx="2699178" cy="161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645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Entregar un MVP(Producto mínimo viable) funcional que pueda evolucionar en el futuro con más funcionalidades e integraciones.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998949" y="7067664"/>
            <a:ext cx="2787064" cy="134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645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Utilizar IA para automatizar tareas repetidas como la generación de documentos,  seguimiento de avances o resumen de información. 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58300"/>
            <a:ext cx="16230089" cy="0"/>
          </a:xfrm>
          <a:prstGeom prst="line">
            <a:avLst/>
          </a:prstGeom>
          <a:ln cap="flat" w="19050">
            <a:solidFill>
              <a:srgbClr val="00BB1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8249950" y="1028700"/>
            <a:ext cx="9009350" cy="3627800"/>
            <a:chOff x="0" y="0"/>
            <a:chExt cx="1395784" cy="5620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5784" cy="562041"/>
            </a:xfrm>
            <a:custGeom>
              <a:avLst/>
              <a:gdLst/>
              <a:ahLst/>
              <a:cxnLst/>
              <a:rect r="r" b="b" t="t" l="l"/>
              <a:pathLst>
                <a:path h="562041" w="1395784">
                  <a:moveTo>
                    <a:pt x="19764" y="0"/>
                  </a:moveTo>
                  <a:lnTo>
                    <a:pt x="1376020" y="0"/>
                  </a:lnTo>
                  <a:cubicBezTo>
                    <a:pt x="1381262" y="0"/>
                    <a:pt x="1386289" y="2082"/>
                    <a:pt x="1389995" y="5789"/>
                  </a:cubicBezTo>
                  <a:cubicBezTo>
                    <a:pt x="1393702" y="9495"/>
                    <a:pt x="1395784" y="14523"/>
                    <a:pt x="1395784" y="19764"/>
                  </a:cubicBezTo>
                  <a:lnTo>
                    <a:pt x="1395784" y="542277"/>
                  </a:lnTo>
                  <a:cubicBezTo>
                    <a:pt x="1395784" y="547519"/>
                    <a:pt x="1393702" y="552546"/>
                    <a:pt x="1389995" y="556252"/>
                  </a:cubicBezTo>
                  <a:cubicBezTo>
                    <a:pt x="1386289" y="559959"/>
                    <a:pt x="1381262" y="562041"/>
                    <a:pt x="1376020" y="562041"/>
                  </a:cubicBezTo>
                  <a:lnTo>
                    <a:pt x="19764" y="562041"/>
                  </a:lnTo>
                  <a:cubicBezTo>
                    <a:pt x="14523" y="562041"/>
                    <a:pt x="9495" y="559959"/>
                    <a:pt x="5789" y="556252"/>
                  </a:cubicBezTo>
                  <a:cubicBezTo>
                    <a:pt x="2082" y="552546"/>
                    <a:pt x="0" y="547519"/>
                    <a:pt x="0" y="542277"/>
                  </a:cubicBezTo>
                  <a:lnTo>
                    <a:pt x="0" y="19764"/>
                  </a:lnTo>
                  <a:cubicBezTo>
                    <a:pt x="0" y="14523"/>
                    <a:pt x="2082" y="9495"/>
                    <a:pt x="5789" y="5789"/>
                  </a:cubicBezTo>
                  <a:cubicBezTo>
                    <a:pt x="9495" y="2082"/>
                    <a:pt x="14523" y="0"/>
                    <a:pt x="19764" y="0"/>
                  </a:cubicBezTo>
                  <a:close/>
                </a:path>
              </a:pathLst>
            </a:custGeom>
            <a:blipFill>
              <a:blip r:embed="rId2"/>
              <a:stretch>
                <a:fillRect l="-2065" t="-38771" r="0" b="-33589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2612704" y="3487610"/>
            <a:ext cx="5782737" cy="5770690"/>
          </a:xfrm>
          <a:custGeom>
            <a:avLst/>
            <a:gdLst/>
            <a:ahLst/>
            <a:cxnLst/>
            <a:rect r="r" b="b" t="t" l="l"/>
            <a:pathLst>
              <a:path h="5770690" w="5782737">
                <a:moveTo>
                  <a:pt x="0" y="0"/>
                </a:moveTo>
                <a:lnTo>
                  <a:pt x="5782737" y="0"/>
                </a:lnTo>
                <a:lnTo>
                  <a:pt x="5782737" y="5770690"/>
                </a:lnTo>
                <a:lnTo>
                  <a:pt x="0" y="5770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619052" y="2348144"/>
            <a:ext cx="826601" cy="828107"/>
          </a:xfrm>
          <a:custGeom>
            <a:avLst/>
            <a:gdLst/>
            <a:ahLst/>
            <a:cxnLst/>
            <a:rect r="r" b="b" t="t" l="l"/>
            <a:pathLst>
              <a:path h="828107" w="826601">
                <a:moveTo>
                  <a:pt x="0" y="0"/>
                </a:moveTo>
                <a:lnTo>
                  <a:pt x="826601" y="0"/>
                </a:lnTo>
                <a:lnTo>
                  <a:pt x="826601" y="828106"/>
                </a:lnTo>
                <a:lnTo>
                  <a:pt x="0" y="8281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35506" y="1855091"/>
            <a:ext cx="6043800" cy="2052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55"/>
              </a:lnSpc>
            </a:pPr>
            <a:r>
              <a:rPr lang="en-US" sz="8617" spc="-68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Alcance del Proyecto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49950" y="5361350"/>
            <a:ext cx="9658497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El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pro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y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ecto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aba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ca: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49950" y="8365989"/>
            <a:ext cx="5506399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Duración estimada: 5 meses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49950" y="5940153"/>
            <a:ext cx="9008839" cy="2399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Tab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lero Kanban con funcionalidades básicas.</a:t>
            </a:r>
          </a:p>
          <a:p>
            <a:pPr algn="just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Roles y permisos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de usuario diferenciados.</a:t>
            </a:r>
          </a:p>
          <a:p>
            <a:pPr algn="just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Exportación de datos y plantillas personalizadas.</a:t>
            </a:r>
          </a:p>
          <a:p>
            <a:pPr algn="just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Interacción entre usuarios.</a:t>
            </a:r>
          </a:p>
          <a:p>
            <a:pPr algn="just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Implementación con ia.</a:t>
            </a:r>
          </a:p>
          <a:p>
            <a:pPr algn="just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Visualización de datos en tiempo real (Dashboard)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-507891" y="-1283364"/>
            <a:ext cx="5482615" cy="4231373"/>
            <a:chOff x="0" y="0"/>
            <a:chExt cx="905432" cy="6987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78" y="0"/>
                  </a:moveTo>
                  <a:lnTo>
                    <a:pt x="872954" y="0"/>
                  </a:lnTo>
                  <a:cubicBezTo>
                    <a:pt x="881568" y="0"/>
                    <a:pt x="889829" y="3422"/>
                    <a:pt x="895920" y="9513"/>
                  </a:cubicBezTo>
                  <a:cubicBezTo>
                    <a:pt x="902011" y="15603"/>
                    <a:pt x="905432" y="23864"/>
                    <a:pt x="905432" y="32478"/>
                  </a:cubicBezTo>
                  <a:lnTo>
                    <a:pt x="905432" y="666317"/>
                  </a:lnTo>
                  <a:cubicBezTo>
                    <a:pt x="905432" y="674930"/>
                    <a:pt x="902011" y="683191"/>
                    <a:pt x="895920" y="689282"/>
                  </a:cubicBezTo>
                  <a:cubicBezTo>
                    <a:pt x="889829" y="695373"/>
                    <a:pt x="881568" y="698795"/>
                    <a:pt x="872954" y="698795"/>
                  </a:cubicBezTo>
                  <a:lnTo>
                    <a:pt x="32478" y="698795"/>
                  </a:lnTo>
                  <a:cubicBezTo>
                    <a:pt x="23864" y="698795"/>
                    <a:pt x="15603" y="695373"/>
                    <a:pt x="9513" y="689282"/>
                  </a:cubicBezTo>
                  <a:cubicBezTo>
                    <a:pt x="3422" y="683191"/>
                    <a:pt x="0" y="674930"/>
                    <a:pt x="0" y="666317"/>
                  </a:cubicBezTo>
                  <a:lnTo>
                    <a:pt x="0" y="32478"/>
                  </a:lnTo>
                  <a:cubicBezTo>
                    <a:pt x="0" y="23864"/>
                    <a:pt x="3422" y="15603"/>
                    <a:pt x="9513" y="9513"/>
                  </a:cubicBezTo>
                  <a:cubicBezTo>
                    <a:pt x="15603" y="3422"/>
                    <a:pt x="23864" y="0"/>
                    <a:pt x="32478" y="0"/>
                  </a:cubicBezTo>
                  <a:close/>
                </a:path>
              </a:pathLst>
            </a:custGeom>
            <a:blipFill>
              <a:blip r:embed="rId7"/>
              <a:stretch>
                <a:fillRect l="-17658" t="0" r="-17658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3657531"/>
            <a:ext cx="18463506" cy="9525"/>
          </a:xfrm>
          <a:prstGeom prst="line">
            <a:avLst/>
          </a:prstGeom>
          <a:ln cap="flat" w="19050">
            <a:solidFill>
              <a:srgbClr val="00BB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2463083" y="3956371"/>
            <a:ext cx="5782737" cy="5770690"/>
          </a:xfrm>
          <a:custGeom>
            <a:avLst/>
            <a:gdLst/>
            <a:ahLst/>
            <a:cxnLst/>
            <a:rect r="r" b="b" t="t" l="l"/>
            <a:pathLst>
              <a:path h="5770690" w="5782737">
                <a:moveTo>
                  <a:pt x="0" y="0"/>
                </a:moveTo>
                <a:lnTo>
                  <a:pt x="5782738" y="0"/>
                </a:lnTo>
                <a:lnTo>
                  <a:pt x="5782738" y="5770690"/>
                </a:lnTo>
                <a:lnTo>
                  <a:pt x="0" y="57706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619052" y="2348144"/>
            <a:ext cx="826601" cy="828107"/>
          </a:xfrm>
          <a:custGeom>
            <a:avLst/>
            <a:gdLst/>
            <a:ahLst/>
            <a:cxnLst/>
            <a:rect r="r" b="b" t="t" l="l"/>
            <a:pathLst>
              <a:path h="828107" w="826601">
                <a:moveTo>
                  <a:pt x="0" y="0"/>
                </a:moveTo>
                <a:lnTo>
                  <a:pt x="826601" y="0"/>
                </a:lnTo>
                <a:lnTo>
                  <a:pt x="826601" y="828106"/>
                </a:lnTo>
                <a:lnTo>
                  <a:pt x="0" y="828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460596" y="2586269"/>
            <a:ext cx="6043800" cy="107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55"/>
              </a:lnSpc>
            </a:pPr>
            <a:r>
              <a:rPr lang="en-US" sz="8617" spc="-68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Limitaciones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507891" y="-1283364"/>
            <a:ext cx="5482615" cy="4231373"/>
            <a:chOff x="0" y="0"/>
            <a:chExt cx="905432" cy="6987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78" y="0"/>
                  </a:moveTo>
                  <a:lnTo>
                    <a:pt x="872954" y="0"/>
                  </a:lnTo>
                  <a:cubicBezTo>
                    <a:pt x="881568" y="0"/>
                    <a:pt x="889829" y="3422"/>
                    <a:pt x="895920" y="9513"/>
                  </a:cubicBezTo>
                  <a:cubicBezTo>
                    <a:pt x="902011" y="15603"/>
                    <a:pt x="905432" y="23864"/>
                    <a:pt x="905432" y="32478"/>
                  </a:cubicBezTo>
                  <a:lnTo>
                    <a:pt x="905432" y="666317"/>
                  </a:lnTo>
                  <a:cubicBezTo>
                    <a:pt x="905432" y="674930"/>
                    <a:pt x="902011" y="683191"/>
                    <a:pt x="895920" y="689282"/>
                  </a:cubicBezTo>
                  <a:cubicBezTo>
                    <a:pt x="889829" y="695373"/>
                    <a:pt x="881568" y="698795"/>
                    <a:pt x="872954" y="698795"/>
                  </a:cubicBezTo>
                  <a:lnTo>
                    <a:pt x="32478" y="698795"/>
                  </a:lnTo>
                  <a:cubicBezTo>
                    <a:pt x="23864" y="698795"/>
                    <a:pt x="15603" y="695373"/>
                    <a:pt x="9513" y="689282"/>
                  </a:cubicBezTo>
                  <a:cubicBezTo>
                    <a:pt x="3422" y="683191"/>
                    <a:pt x="0" y="674930"/>
                    <a:pt x="0" y="666317"/>
                  </a:cubicBezTo>
                  <a:lnTo>
                    <a:pt x="0" y="32478"/>
                  </a:lnTo>
                  <a:cubicBezTo>
                    <a:pt x="0" y="23864"/>
                    <a:pt x="3422" y="15603"/>
                    <a:pt x="9513" y="9513"/>
                  </a:cubicBezTo>
                  <a:cubicBezTo>
                    <a:pt x="15603" y="3422"/>
                    <a:pt x="23864" y="0"/>
                    <a:pt x="32478" y="0"/>
                  </a:cubicBezTo>
                  <a:close/>
                </a:path>
              </a:pathLst>
            </a:custGeom>
            <a:blipFill>
              <a:blip r:embed="rId6"/>
              <a:stretch>
                <a:fillRect l="-17658" t="0" r="-17658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853343" y="4293125"/>
            <a:ext cx="4629153" cy="2548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</a:pPr>
            <a:r>
              <a:rPr lang="en-US" sz="2411" spc="-55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01. Tiempo Extremadamente Ajustado</a:t>
            </a:r>
          </a:p>
          <a:p>
            <a:pPr algn="l" marL="520701" indent="-260350" lvl="1">
              <a:lnSpc>
                <a:spcPts val="3376"/>
              </a:lnSpc>
              <a:buFont typeface="Arial"/>
              <a:buChar char="•"/>
            </a:pPr>
            <a:r>
              <a:rPr lang="en-US" sz="2411" spc="-5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Tiempo muy ajustado para algunos integrantes</a:t>
            </a:r>
          </a:p>
          <a:p>
            <a:pPr algn="l">
              <a:lnSpc>
                <a:spcPts val="3376"/>
              </a:lnSpc>
            </a:pPr>
          </a:p>
          <a:p>
            <a:pPr algn="l">
              <a:lnSpc>
                <a:spcPts val="3376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853343" y="7586540"/>
            <a:ext cx="4495200" cy="2548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</a:pPr>
            <a:r>
              <a:rPr lang="en-US" sz="2411" spc="-55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03. Complejidad Técnica</a:t>
            </a:r>
          </a:p>
          <a:p>
            <a:pPr algn="l" marL="520701" indent="-260350" lvl="1">
              <a:lnSpc>
                <a:spcPts val="3376"/>
              </a:lnSpc>
              <a:buFont typeface="Arial"/>
              <a:buChar char="•"/>
            </a:pPr>
            <a:r>
              <a:rPr lang="en-US" sz="2411" spc="-5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Integración simultánea IA + Kanban</a:t>
            </a:r>
          </a:p>
          <a:p>
            <a:pPr algn="l" marL="520701" indent="-260350" lvl="1">
              <a:lnSpc>
                <a:spcPts val="3376"/>
              </a:lnSpc>
              <a:buFont typeface="Arial"/>
              <a:buChar char="•"/>
            </a:pPr>
            <a:r>
              <a:rPr lang="en-US" sz="2411" spc="-5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Curva de aprendizaje en Angular, PrismaDB y Docker</a:t>
            </a:r>
          </a:p>
          <a:p>
            <a:pPr algn="l">
              <a:lnSpc>
                <a:spcPts val="3376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882546" y="4297626"/>
            <a:ext cx="4417596" cy="2119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</a:pPr>
            <a:r>
              <a:rPr lang="en-US" sz="2411" spc="-55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04. Coordinación de Equipo</a:t>
            </a:r>
          </a:p>
          <a:p>
            <a:pPr algn="l" marL="520701" indent="-260350" lvl="1">
              <a:lnSpc>
                <a:spcPts val="3376"/>
              </a:lnSpc>
              <a:buFont typeface="Arial"/>
              <a:buChar char="•"/>
            </a:pPr>
            <a:r>
              <a:rPr lang="en-US" sz="2411" spc="-5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4 roles diferentes (Dev, PO, Scrum Master, QA)</a:t>
            </a:r>
          </a:p>
          <a:p>
            <a:pPr algn="l" marL="520701" indent="-260350" lvl="1">
              <a:lnSpc>
                <a:spcPts val="3376"/>
              </a:lnSpc>
              <a:spcBef>
                <a:spcPct val="0"/>
              </a:spcBef>
              <a:buFont typeface="Arial"/>
              <a:buChar char="•"/>
            </a:pPr>
            <a:r>
              <a:rPr lang="en-US" sz="2411" spc="-5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Comunicación constante requerida.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53343" y="6225547"/>
            <a:ext cx="4039404" cy="1262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</a:pPr>
            <a:r>
              <a:rPr lang="en-US" sz="2411" spc="-55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02.  Recursos Limitados</a:t>
            </a:r>
          </a:p>
          <a:p>
            <a:pPr algn="l" marL="520701" indent="-260350" lvl="1">
              <a:lnSpc>
                <a:spcPts val="3376"/>
              </a:lnSpc>
              <a:spcBef>
                <a:spcPct val="0"/>
              </a:spcBef>
              <a:buFont typeface="Arial"/>
              <a:buChar char="•"/>
            </a:pPr>
            <a:r>
              <a:rPr lang="en-US" sz="2411" spc="-5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apis gratuitas con restricciones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82546" y="6584956"/>
            <a:ext cx="4417596" cy="1691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</a:pPr>
            <a:r>
              <a:rPr lang="en-US" sz="2411" spc="-55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05. Alcance Reducido</a:t>
            </a:r>
          </a:p>
          <a:p>
            <a:pPr algn="l" marL="520701" indent="-260350" lvl="1">
              <a:lnSpc>
                <a:spcPts val="3376"/>
              </a:lnSpc>
              <a:spcBef>
                <a:spcPct val="0"/>
              </a:spcBef>
              <a:buFont typeface="Arial"/>
              <a:buChar char="•"/>
            </a:pPr>
            <a:r>
              <a:rPr lang="en-US" sz="2411" spc="-5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No incluye: integraciones externas, BI, notificaciones push.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82546" y="8443790"/>
            <a:ext cx="4495200" cy="1691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</a:pPr>
            <a:r>
              <a:rPr lang="en-US" sz="2411" spc="-55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06. Validación Limitada</a:t>
            </a:r>
          </a:p>
          <a:p>
            <a:pPr algn="l" marL="520701" indent="-260350" lvl="1">
              <a:lnSpc>
                <a:spcPts val="3376"/>
              </a:lnSpc>
              <a:buFont typeface="Arial"/>
              <a:buChar char="•"/>
            </a:pPr>
            <a:r>
              <a:rPr lang="en-US" sz="2411" spc="-5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Poco tiempo para feedback de usuarios reales</a:t>
            </a:r>
          </a:p>
          <a:p>
            <a:pPr algn="l">
              <a:lnSpc>
                <a:spcPts val="3376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3061825" y="-835725"/>
            <a:ext cx="6339891" cy="6345178"/>
          </a:xfrm>
          <a:custGeom>
            <a:avLst/>
            <a:gdLst/>
            <a:ahLst/>
            <a:cxnLst/>
            <a:rect r="r" b="b" t="t" l="l"/>
            <a:pathLst>
              <a:path h="6345178" w="6339891">
                <a:moveTo>
                  <a:pt x="0" y="0"/>
                </a:moveTo>
                <a:lnTo>
                  <a:pt x="6339890" y="0"/>
                </a:lnTo>
                <a:lnTo>
                  <a:pt x="6339890" y="6345178"/>
                </a:lnTo>
                <a:lnTo>
                  <a:pt x="0" y="6345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61825" y="5509453"/>
            <a:ext cx="3039700" cy="3026191"/>
          </a:xfrm>
          <a:custGeom>
            <a:avLst/>
            <a:gdLst/>
            <a:ahLst/>
            <a:cxnLst/>
            <a:rect r="r" b="b" t="t" l="l"/>
            <a:pathLst>
              <a:path h="3026191" w="3039700">
                <a:moveTo>
                  <a:pt x="0" y="0"/>
                </a:moveTo>
                <a:lnTo>
                  <a:pt x="3039700" y="0"/>
                </a:lnTo>
                <a:lnTo>
                  <a:pt x="3039700" y="3026191"/>
                </a:lnTo>
                <a:lnTo>
                  <a:pt x="0" y="30261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89823" y="5537907"/>
            <a:ext cx="3038065" cy="2997737"/>
          </a:xfrm>
          <a:custGeom>
            <a:avLst/>
            <a:gdLst/>
            <a:ahLst/>
            <a:cxnLst/>
            <a:rect r="r" b="b" t="t" l="l"/>
            <a:pathLst>
              <a:path h="2997737" w="3038065">
                <a:moveTo>
                  <a:pt x="0" y="0"/>
                </a:moveTo>
                <a:lnTo>
                  <a:pt x="3038065" y="0"/>
                </a:lnTo>
                <a:lnTo>
                  <a:pt x="3038065" y="2997737"/>
                </a:lnTo>
                <a:lnTo>
                  <a:pt x="0" y="29977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22627" y="5509453"/>
            <a:ext cx="3119960" cy="3026191"/>
          </a:xfrm>
          <a:custGeom>
            <a:avLst/>
            <a:gdLst/>
            <a:ahLst/>
            <a:cxnLst/>
            <a:rect r="r" b="b" t="t" l="l"/>
            <a:pathLst>
              <a:path h="3026191" w="3119960">
                <a:moveTo>
                  <a:pt x="0" y="0"/>
                </a:moveTo>
                <a:lnTo>
                  <a:pt x="3119961" y="0"/>
                </a:lnTo>
                <a:lnTo>
                  <a:pt x="3119961" y="3026191"/>
                </a:lnTo>
                <a:lnTo>
                  <a:pt x="0" y="30261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6022" t="-7344" r="-25108" b="-320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51980" y="4361896"/>
            <a:ext cx="4061255" cy="404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2"/>
              </a:lnSpc>
              <a:spcBef>
                <a:spcPct val="0"/>
              </a:spcBef>
            </a:pPr>
            <a:r>
              <a:rPr lang="en-US" b="true" sz="245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SCRUM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43468" y="4349864"/>
            <a:ext cx="2710484" cy="387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b="true" sz="235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KANBAN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07241" y="4407135"/>
            <a:ext cx="2548868" cy="387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b="true" sz="235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25010 Y  27001</a:t>
            </a:r>
          </a:p>
        </p:txBody>
      </p:sp>
      <p:sp>
        <p:nvSpPr>
          <p:cNvPr name="AutoShape 9" id="9"/>
          <p:cNvSpPr/>
          <p:nvPr/>
        </p:nvSpPr>
        <p:spPr>
          <a:xfrm>
            <a:off x="-209176" y="9258300"/>
            <a:ext cx="18931484" cy="0"/>
          </a:xfrm>
          <a:prstGeom prst="line">
            <a:avLst/>
          </a:prstGeom>
          <a:ln cap="flat" w="19050">
            <a:solidFill>
              <a:srgbClr val="00BB1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-507891" y="-1267063"/>
            <a:ext cx="5480359" cy="4229632"/>
            <a:chOff x="0" y="0"/>
            <a:chExt cx="905432" cy="6987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91" y="0"/>
                  </a:moveTo>
                  <a:lnTo>
                    <a:pt x="872941" y="0"/>
                  </a:lnTo>
                  <a:cubicBezTo>
                    <a:pt x="881558" y="0"/>
                    <a:pt x="889823" y="3423"/>
                    <a:pt x="895916" y="9516"/>
                  </a:cubicBezTo>
                  <a:cubicBezTo>
                    <a:pt x="902009" y="15610"/>
                    <a:pt x="905432" y="23874"/>
                    <a:pt x="905432" y="32491"/>
                  </a:cubicBezTo>
                  <a:lnTo>
                    <a:pt x="905432" y="666303"/>
                  </a:lnTo>
                  <a:cubicBezTo>
                    <a:pt x="905432" y="684248"/>
                    <a:pt x="890886" y="698795"/>
                    <a:pt x="872941" y="698795"/>
                  </a:cubicBezTo>
                  <a:lnTo>
                    <a:pt x="32491" y="698795"/>
                  </a:lnTo>
                  <a:cubicBezTo>
                    <a:pt x="14547" y="698795"/>
                    <a:pt x="0" y="684248"/>
                    <a:pt x="0" y="666303"/>
                  </a:cubicBezTo>
                  <a:lnTo>
                    <a:pt x="0" y="32491"/>
                  </a:lnTo>
                  <a:cubicBezTo>
                    <a:pt x="0" y="23874"/>
                    <a:pt x="3423" y="15610"/>
                    <a:pt x="9516" y="9516"/>
                  </a:cubicBezTo>
                  <a:cubicBezTo>
                    <a:pt x="15610" y="3423"/>
                    <a:pt x="23874" y="0"/>
                    <a:pt x="32491" y="0"/>
                  </a:cubicBezTo>
                  <a:close/>
                </a:path>
              </a:pathLst>
            </a:custGeom>
            <a:blipFill>
              <a:blip r:embed="rId7"/>
              <a:stretch>
                <a:fillRect l="-17658" t="0" r="-17658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768089" y="2602326"/>
            <a:ext cx="11822785" cy="107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55"/>
              </a:lnSpc>
            </a:pPr>
            <a:r>
              <a:rPr lang="en-US" sz="8617" spc="-68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Metodologías aplicadas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72389" y="321523"/>
            <a:ext cx="7959066" cy="8450746"/>
          </a:xfrm>
          <a:custGeom>
            <a:avLst/>
            <a:gdLst/>
            <a:ahLst/>
            <a:cxnLst/>
            <a:rect r="r" b="b" t="t" l="l"/>
            <a:pathLst>
              <a:path h="8450746" w="7959066">
                <a:moveTo>
                  <a:pt x="0" y="0"/>
                </a:moveTo>
                <a:lnTo>
                  <a:pt x="7959067" y="0"/>
                </a:lnTo>
                <a:lnTo>
                  <a:pt x="7959067" y="8450746"/>
                </a:lnTo>
                <a:lnTo>
                  <a:pt x="0" y="8450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14023" y="5732347"/>
            <a:ext cx="1465883" cy="1468553"/>
          </a:xfrm>
          <a:custGeom>
            <a:avLst/>
            <a:gdLst/>
            <a:ahLst/>
            <a:cxnLst/>
            <a:rect r="r" b="b" t="t" l="l"/>
            <a:pathLst>
              <a:path h="1468553" w="1465883">
                <a:moveTo>
                  <a:pt x="0" y="0"/>
                </a:moveTo>
                <a:lnTo>
                  <a:pt x="1465883" y="0"/>
                </a:lnTo>
                <a:lnTo>
                  <a:pt x="1465883" y="1468553"/>
                </a:lnTo>
                <a:lnTo>
                  <a:pt x="0" y="14685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73068" y="2887925"/>
            <a:ext cx="11619208" cy="6626992"/>
          </a:xfrm>
          <a:custGeom>
            <a:avLst/>
            <a:gdLst/>
            <a:ahLst/>
            <a:cxnLst/>
            <a:rect r="r" b="b" t="t" l="l"/>
            <a:pathLst>
              <a:path h="6626992" w="11619208">
                <a:moveTo>
                  <a:pt x="0" y="0"/>
                </a:moveTo>
                <a:lnTo>
                  <a:pt x="11619209" y="0"/>
                </a:lnTo>
                <a:lnTo>
                  <a:pt x="11619209" y="6626991"/>
                </a:lnTo>
                <a:lnTo>
                  <a:pt x="0" y="66269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55188" y="2450949"/>
            <a:ext cx="13777625" cy="2352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18"/>
              </a:lnSpc>
            </a:pPr>
            <a:r>
              <a:rPr lang="en-US" sz="11193" spc="-1119" b="true">
                <a:solidFill>
                  <a:srgbClr val="F1F1F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Cronograma para el desarrollo del proyecto</a:t>
            </a:r>
          </a:p>
        </p:txBody>
      </p:sp>
    </p:spTree>
  </p:cSld>
  <p:clrMapOvr>
    <a:masterClrMapping/>
  </p:clrMapOvr>
  <p:transition spd="slow">
    <p:push dir="d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888" r="0" b="-11888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223" t="0" r="-59223" b="0"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345427"/>
            <a:ext cx="18085389" cy="6912873"/>
          </a:xfrm>
          <a:custGeom>
            <a:avLst/>
            <a:gdLst/>
            <a:ahLst/>
            <a:cxnLst/>
            <a:rect r="r" b="b" t="t" l="l"/>
            <a:pathLst>
              <a:path h="6912873" w="18085389">
                <a:moveTo>
                  <a:pt x="0" y="0"/>
                </a:moveTo>
                <a:lnTo>
                  <a:pt x="18085389" y="0"/>
                </a:lnTo>
                <a:lnTo>
                  <a:pt x="18085389" y="6912873"/>
                </a:lnTo>
                <a:lnTo>
                  <a:pt x="0" y="69128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983" t="-292" r="-189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11315" y="-6105319"/>
            <a:ext cx="7959066" cy="8450746"/>
          </a:xfrm>
          <a:custGeom>
            <a:avLst/>
            <a:gdLst/>
            <a:ahLst/>
            <a:cxnLst/>
            <a:rect r="r" b="b" t="t" l="l"/>
            <a:pathLst>
              <a:path h="8450746" w="7959066">
                <a:moveTo>
                  <a:pt x="0" y="0"/>
                </a:moveTo>
                <a:lnTo>
                  <a:pt x="7959066" y="0"/>
                </a:lnTo>
                <a:lnTo>
                  <a:pt x="7959066" y="8450746"/>
                </a:lnTo>
                <a:lnTo>
                  <a:pt x="0" y="84507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507891" y="-1267063"/>
            <a:ext cx="5480359" cy="4229632"/>
            <a:chOff x="0" y="0"/>
            <a:chExt cx="905432" cy="698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91" y="0"/>
                  </a:moveTo>
                  <a:lnTo>
                    <a:pt x="872941" y="0"/>
                  </a:lnTo>
                  <a:cubicBezTo>
                    <a:pt x="881558" y="0"/>
                    <a:pt x="889823" y="3423"/>
                    <a:pt x="895916" y="9516"/>
                  </a:cubicBezTo>
                  <a:cubicBezTo>
                    <a:pt x="902009" y="15610"/>
                    <a:pt x="905432" y="23874"/>
                    <a:pt x="905432" y="32491"/>
                  </a:cubicBezTo>
                  <a:lnTo>
                    <a:pt x="905432" y="666303"/>
                  </a:lnTo>
                  <a:cubicBezTo>
                    <a:pt x="905432" y="684248"/>
                    <a:pt x="890886" y="698795"/>
                    <a:pt x="872941" y="698795"/>
                  </a:cubicBezTo>
                  <a:lnTo>
                    <a:pt x="32491" y="698795"/>
                  </a:lnTo>
                  <a:cubicBezTo>
                    <a:pt x="14547" y="698795"/>
                    <a:pt x="0" y="684248"/>
                    <a:pt x="0" y="666303"/>
                  </a:cubicBezTo>
                  <a:lnTo>
                    <a:pt x="0" y="32491"/>
                  </a:lnTo>
                  <a:cubicBezTo>
                    <a:pt x="0" y="23874"/>
                    <a:pt x="3423" y="15610"/>
                    <a:pt x="9516" y="9516"/>
                  </a:cubicBezTo>
                  <a:cubicBezTo>
                    <a:pt x="15610" y="3423"/>
                    <a:pt x="23874" y="0"/>
                    <a:pt x="32491" y="0"/>
                  </a:cubicBezTo>
                  <a:close/>
                </a:path>
              </a:pathLst>
            </a:custGeom>
            <a:blipFill>
              <a:blip r:embed="rId5"/>
              <a:stretch>
                <a:fillRect l="-17658" t="0" r="-17658" b="0"/>
              </a:stretch>
            </a:blipFill>
          </p:spPr>
        </p:sp>
      </p:grpSp>
    </p:spTree>
  </p:cSld>
  <p:clrMapOvr>
    <a:masterClrMapping/>
  </p:clrMapOvr>
  <p:transition spd="slow">
    <p:push dir="u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0800000">
            <a:off x="-1635054" y="4663396"/>
            <a:ext cx="7418824" cy="7425012"/>
          </a:xfrm>
          <a:custGeom>
            <a:avLst/>
            <a:gdLst/>
            <a:ahLst/>
            <a:cxnLst/>
            <a:rect r="r" b="b" t="t" l="l"/>
            <a:pathLst>
              <a:path h="7425012" w="7418824">
                <a:moveTo>
                  <a:pt x="7418824" y="7425012"/>
                </a:moveTo>
                <a:lnTo>
                  <a:pt x="0" y="7425012"/>
                </a:lnTo>
                <a:lnTo>
                  <a:pt x="0" y="0"/>
                </a:lnTo>
                <a:lnTo>
                  <a:pt x="7418824" y="0"/>
                </a:lnTo>
                <a:lnTo>
                  <a:pt x="7418824" y="74250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25415" y="4585267"/>
            <a:ext cx="824630" cy="82463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BB13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283D6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01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83393" y="5018521"/>
            <a:ext cx="4521213" cy="4385469"/>
            <a:chOff x="0" y="0"/>
            <a:chExt cx="1190772" cy="11550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90772" cy="1155021"/>
            </a:xfrm>
            <a:custGeom>
              <a:avLst/>
              <a:gdLst/>
              <a:ahLst/>
              <a:cxnLst/>
              <a:rect r="r" b="b" t="t" l="l"/>
              <a:pathLst>
                <a:path h="1155021" w="1190772">
                  <a:moveTo>
                    <a:pt x="1190772" y="0"/>
                  </a:moveTo>
                  <a:lnTo>
                    <a:pt x="1190772" y="1040721"/>
                  </a:lnTo>
                  <a:lnTo>
                    <a:pt x="595386" y="1155021"/>
                  </a:lnTo>
                  <a:lnTo>
                    <a:pt x="0" y="1040721"/>
                  </a:lnTo>
                  <a:lnTo>
                    <a:pt x="0" y="0"/>
                  </a:lnTo>
                  <a:lnTo>
                    <a:pt x="119077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190772" cy="1069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717220" y="4585267"/>
            <a:ext cx="824630" cy="82463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BB13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283D6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02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770805" y="5018521"/>
            <a:ext cx="4521213" cy="4385469"/>
            <a:chOff x="0" y="0"/>
            <a:chExt cx="1190772" cy="11550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90772" cy="1155021"/>
            </a:xfrm>
            <a:custGeom>
              <a:avLst/>
              <a:gdLst/>
              <a:ahLst/>
              <a:cxnLst/>
              <a:rect r="r" b="b" t="t" l="l"/>
              <a:pathLst>
                <a:path h="1155021" w="1190772">
                  <a:moveTo>
                    <a:pt x="1190772" y="0"/>
                  </a:moveTo>
                  <a:lnTo>
                    <a:pt x="1190772" y="1040721"/>
                  </a:lnTo>
                  <a:lnTo>
                    <a:pt x="595386" y="1155021"/>
                  </a:lnTo>
                  <a:lnTo>
                    <a:pt x="0" y="1040721"/>
                  </a:lnTo>
                  <a:lnTo>
                    <a:pt x="0" y="0"/>
                  </a:lnTo>
                  <a:lnTo>
                    <a:pt x="119077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190772" cy="1069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604632" y="4606206"/>
            <a:ext cx="824630" cy="82463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BB13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283D6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03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949944" y="6260622"/>
            <a:ext cx="2294980" cy="1527205"/>
          </a:xfrm>
          <a:custGeom>
            <a:avLst/>
            <a:gdLst/>
            <a:ahLst/>
            <a:cxnLst/>
            <a:rect r="r" b="b" t="t" l="l"/>
            <a:pathLst>
              <a:path h="1527205" w="2294980">
                <a:moveTo>
                  <a:pt x="0" y="0"/>
                </a:moveTo>
                <a:lnTo>
                  <a:pt x="2294980" y="0"/>
                </a:lnTo>
                <a:lnTo>
                  <a:pt x="2294980" y="1527205"/>
                </a:lnTo>
                <a:lnTo>
                  <a:pt x="0" y="15272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666556" y="6358459"/>
            <a:ext cx="2312839" cy="1527205"/>
          </a:xfrm>
          <a:custGeom>
            <a:avLst/>
            <a:gdLst/>
            <a:ahLst/>
            <a:cxnLst/>
            <a:rect r="r" b="b" t="t" l="l"/>
            <a:pathLst>
              <a:path h="1527205" w="2312839">
                <a:moveTo>
                  <a:pt x="0" y="0"/>
                </a:moveTo>
                <a:lnTo>
                  <a:pt x="2312839" y="0"/>
                </a:lnTo>
                <a:lnTo>
                  <a:pt x="2312839" y="1527204"/>
                </a:lnTo>
                <a:lnTo>
                  <a:pt x="0" y="15272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279" r="0" b="-5279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224558" y="2288836"/>
            <a:ext cx="15034742" cy="1258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18"/>
              </a:lnSpc>
            </a:pPr>
            <a:r>
              <a:rPr lang="en-US" sz="11193" spc="-1119" b="true">
                <a:solidFill>
                  <a:srgbClr val="F1F1F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Tecnologías y herramientas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-507891" y="-1267063"/>
            <a:ext cx="5480359" cy="4229632"/>
            <a:chOff x="0" y="0"/>
            <a:chExt cx="905432" cy="69879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91" y="0"/>
                  </a:moveTo>
                  <a:lnTo>
                    <a:pt x="872941" y="0"/>
                  </a:lnTo>
                  <a:cubicBezTo>
                    <a:pt x="881558" y="0"/>
                    <a:pt x="889823" y="3423"/>
                    <a:pt x="895916" y="9516"/>
                  </a:cubicBezTo>
                  <a:cubicBezTo>
                    <a:pt x="902009" y="15610"/>
                    <a:pt x="905432" y="23874"/>
                    <a:pt x="905432" y="32491"/>
                  </a:cubicBezTo>
                  <a:lnTo>
                    <a:pt x="905432" y="666303"/>
                  </a:lnTo>
                  <a:cubicBezTo>
                    <a:pt x="905432" y="684248"/>
                    <a:pt x="890886" y="698795"/>
                    <a:pt x="872941" y="698795"/>
                  </a:cubicBezTo>
                  <a:lnTo>
                    <a:pt x="32491" y="698795"/>
                  </a:lnTo>
                  <a:cubicBezTo>
                    <a:pt x="14547" y="698795"/>
                    <a:pt x="0" y="684248"/>
                    <a:pt x="0" y="666303"/>
                  </a:cubicBezTo>
                  <a:lnTo>
                    <a:pt x="0" y="32491"/>
                  </a:lnTo>
                  <a:cubicBezTo>
                    <a:pt x="0" y="23874"/>
                    <a:pt x="3423" y="15610"/>
                    <a:pt x="9516" y="9516"/>
                  </a:cubicBezTo>
                  <a:cubicBezTo>
                    <a:pt x="15610" y="3423"/>
                    <a:pt x="23874" y="0"/>
                    <a:pt x="32491" y="0"/>
                  </a:cubicBezTo>
                  <a:close/>
                </a:path>
              </a:pathLst>
            </a:custGeom>
            <a:blipFill>
              <a:blip r:embed="rId6"/>
              <a:stretch>
                <a:fillRect l="-17658" t="0" r="-17658" b="0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8878573" y="6095839"/>
            <a:ext cx="2426606" cy="1107415"/>
          </a:xfrm>
          <a:custGeom>
            <a:avLst/>
            <a:gdLst/>
            <a:ahLst/>
            <a:cxnLst/>
            <a:rect r="r" b="b" t="t" l="l"/>
            <a:pathLst>
              <a:path h="1107415" w="2426606">
                <a:moveTo>
                  <a:pt x="0" y="0"/>
                </a:moveTo>
                <a:lnTo>
                  <a:pt x="2426606" y="0"/>
                </a:lnTo>
                <a:lnTo>
                  <a:pt x="2426606" y="1107415"/>
                </a:lnTo>
                <a:lnTo>
                  <a:pt x="0" y="11074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468341" y="5933772"/>
            <a:ext cx="3576495" cy="43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Angular.</a:t>
            </a:r>
          </a:p>
          <a:p>
            <a:pPr algn="l">
              <a:lnSpc>
                <a:spcPts val="1785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2234104" y="6983842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Miro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68341" y="7121234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ExpressJS.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355752" y="6845009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Notion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234104" y="6575201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Excel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477400" y="7797352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PostgreSQL.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391712" y="7320326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Visual Studio Code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468341" y="6479951"/>
            <a:ext cx="3576495" cy="43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PrismaDB</a:t>
            </a:r>
          </a:p>
          <a:p>
            <a:pPr algn="l">
              <a:lnSpc>
                <a:spcPts val="1785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-2827377" y="4536624"/>
            <a:ext cx="14367955" cy="377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</a:pPr>
            <a:r>
              <a:rPr lang="en-US" sz="2252" spc="94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BackEnd/FrontEnd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931929" y="4536624"/>
            <a:ext cx="14367955" cy="377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</a:pPr>
            <a:r>
              <a:rPr lang="en-US" sz="2252" spc="94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Apoyo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355752" y="5894376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GitHub y Git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355752" y="6369693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Figma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819340" y="4536624"/>
            <a:ext cx="14367955" cy="377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</a:pPr>
            <a:r>
              <a:rPr lang="en-US" sz="2252" spc="94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Planificacion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391712" y="7795643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Data Modeler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234104" y="5761960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User Story Map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234104" y="6170601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Roadmap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391712" y="8270959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Docker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468341" y="8270959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Tailwindcss</a:t>
            </a:r>
          </a:p>
        </p:txBody>
      </p:sp>
      <p:sp>
        <p:nvSpPr>
          <p:cNvPr name="AutoShape 42" id="42"/>
          <p:cNvSpPr/>
          <p:nvPr/>
        </p:nvSpPr>
        <p:spPr>
          <a:xfrm>
            <a:off x="0" y="3657531"/>
            <a:ext cx="18463506" cy="9525"/>
          </a:xfrm>
          <a:prstGeom prst="line">
            <a:avLst/>
          </a:prstGeom>
          <a:ln cap="flat" w="19050">
            <a:solidFill>
              <a:srgbClr val="00BB1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23374" y="982863"/>
            <a:ext cx="11156860" cy="8020024"/>
            <a:chOff x="0" y="0"/>
            <a:chExt cx="1257272" cy="9037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7272" cy="903781"/>
            </a:xfrm>
            <a:custGeom>
              <a:avLst/>
              <a:gdLst/>
              <a:ahLst/>
              <a:cxnLst/>
              <a:rect r="r" b="b" t="t" l="l"/>
              <a:pathLst>
                <a:path h="903781" w="1257272">
                  <a:moveTo>
                    <a:pt x="15960" y="0"/>
                  </a:moveTo>
                  <a:lnTo>
                    <a:pt x="1241312" y="0"/>
                  </a:lnTo>
                  <a:cubicBezTo>
                    <a:pt x="1250127" y="0"/>
                    <a:pt x="1257272" y="7146"/>
                    <a:pt x="1257272" y="15960"/>
                  </a:cubicBezTo>
                  <a:lnTo>
                    <a:pt x="1257272" y="887821"/>
                  </a:lnTo>
                  <a:cubicBezTo>
                    <a:pt x="1257272" y="892053"/>
                    <a:pt x="1255591" y="896113"/>
                    <a:pt x="1252598" y="899106"/>
                  </a:cubicBezTo>
                  <a:cubicBezTo>
                    <a:pt x="1249605" y="902099"/>
                    <a:pt x="1245545" y="903781"/>
                    <a:pt x="1241312" y="903781"/>
                  </a:cubicBezTo>
                  <a:lnTo>
                    <a:pt x="15960" y="903781"/>
                  </a:lnTo>
                  <a:cubicBezTo>
                    <a:pt x="11727" y="903781"/>
                    <a:pt x="7668" y="902099"/>
                    <a:pt x="4675" y="899106"/>
                  </a:cubicBezTo>
                  <a:cubicBezTo>
                    <a:pt x="1682" y="896113"/>
                    <a:pt x="0" y="892053"/>
                    <a:pt x="0" y="887821"/>
                  </a:cubicBezTo>
                  <a:lnTo>
                    <a:pt x="0" y="15960"/>
                  </a:lnTo>
                  <a:cubicBezTo>
                    <a:pt x="0" y="11727"/>
                    <a:pt x="1682" y="7668"/>
                    <a:pt x="4675" y="4675"/>
                  </a:cubicBezTo>
                  <a:cubicBezTo>
                    <a:pt x="7668" y="1682"/>
                    <a:pt x="11727" y="0"/>
                    <a:pt x="15960" y="0"/>
                  </a:cubicBezTo>
                  <a:close/>
                </a:path>
              </a:pathLst>
            </a:custGeom>
            <a:blipFill>
              <a:blip r:embed="rId2"/>
              <a:stretch>
                <a:fillRect l="-891" t="0" r="-89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524008" y="4164769"/>
            <a:ext cx="826601" cy="828107"/>
          </a:xfrm>
          <a:custGeom>
            <a:avLst/>
            <a:gdLst/>
            <a:ahLst/>
            <a:cxnLst/>
            <a:rect r="r" b="b" t="t" l="l"/>
            <a:pathLst>
              <a:path h="828107" w="826601">
                <a:moveTo>
                  <a:pt x="0" y="0"/>
                </a:moveTo>
                <a:lnTo>
                  <a:pt x="826601" y="0"/>
                </a:lnTo>
                <a:lnTo>
                  <a:pt x="826601" y="828106"/>
                </a:lnTo>
                <a:lnTo>
                  <a:pt x="0" y="8281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74076" y="3083450"/>
            <a:ext cx="4805446" cy="3044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55"/>
              </a:lnSpc>
            </a:pPr>
            <a:r>
              <a:rPr lang="en-US" sz="8617" spc="-68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bases de datos relacional</a:t>
            </a:r>
          </a:p>
        </p:txBody>
      </p:sp>
      <p:sp>
        <p:nvSpPr>
          <p:cNvPr name="AutoShape 6" id="6"/>
          <p:cNvSpPr/>
          <p:nvPr/>
        </p:nvSpPr>
        <p:spPr>
          <a:xfrm>
            <a:off x="1028700" y="9258300"/>
            <a:ext cx="16230089" cy="0"/>
          </a:xfrm>
          <a:prstGeom prst="line">
            <a:avLst/>
          </a:prstGeom>
          <a:ln cap="flat" w="19050">
            <a:solidFill>
              <a:srgbClr val="00BB1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-507891" y="-1267063"/>
            <a:ext cx="5480359" cy="4229632"/>
            <a:chOff x="0" y="0"/>
            <a:chExt cx="905432" cy="69879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91" y="0"/>
                  </a:moveTo>
                  <a:lnTo>
                    <a:pt x="872941" y="0"/>
                  </a:lnTo>
                  <a:cubicBezTo>
                    <a:pt x="881558" y="0"/>
                    <a:pt x="889823" y="3423"/>
                    <a:pt x="895916" y="9516"/>
                  </a:cubicBezTo>
                  <a:cubicBezTo>
                    <a:pt x="902009" y="15610"/>
                    <a:pt x="905432" y="23874"/>
                    <a:pt x="905432" y="32491"/>
                  </a:cubicBezTo>
                  <a:lnTo>
                    <a:pt x="905432" y="666303"/>
                  </a:lnTo>
                  <a:cubicBezTo>
                    <a:pt x="905432" y="684248"/>
                    <a:pt x="890886" y="698795"/>
                    <a:pt x="872941" y="698795"/>
                  </a:cubicBezTo>
                  <a:lnTo>
                    <a:pt x="32491" y="698795"/>
                  </a:lnTo>
                  <a:cubicBezTo>
                    <a:pt x="14547" y="698795"/>
                    <a:pt x="0" y="684248"/>
                    <a:pt x="0" y="666303"/>
                  </a:cubicBezTo>
                  <a:lnTo>
                    <a:pt x="0" y="32491"/>
                  </a:lnTo>
                  <a:cubicBezTo>
                    <a:pt x="0" y="23874"/>
                    <a:pt x="3423" y="15610"/>
                    <a:pt x="9516" y="9516"/>
                  </a:cubicBezTo>
                  <a:cubicBezTo>
                    <a:pt x="15610" y="3423"/>
                    <a:pt x="23874" y="0"/>
                    <a:pt x="32491" y="0"/>
                  </a:cubicBezTo>
                  <a:close/>
                </a:path>
              </a:pathLst>
            </a:custGeom>
            <a:blipFill>
              <a:blip r:embed="rId5"/>
              <a:stretch>
                <a:fillRect l="-17658" t="0" r="-17658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5074730" y="9407969"/>
            <a:ext cx="218405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PostgreSQL</a:t>
            </a:r>
          </a:p>
        </p:txBody>
      </p:sp>
    </p:spTree>
  </p:cSld>
  <p:clrMapOvr>
    <a:masterClrMapping/>
  </p:clrMapOvr>
  <p:transition spd="fast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65790" y="283997"/>
            <a:ext cx="7959066" cy="8450746"/>
          </a:xfrm>
          <a:custGeom>
            <a:avLst/>
            <a:gdLst/>
            <a:ahLst/>
            <a:cxnLst/>
            <a:rect r="r" b="b" t="t" l="l"/>
            <a:pathLst>
              <a:path h="8450746" w="7959066">
                <a:moveTo>
                  <a:pt x="0" y="0"/>
                </a:moveTo>
                <a:lnTo>
                  <a:pt x="7959066" y="0"/>
                </a:lnTo>
                <a:lnTo>
                  <a:pt x="7959066" y="8450746"/>
                </a:lnTo>
                <a:lnTo>
                  <a:pt x="0" y="8450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08689" y="2292823"/>
            <a:ext cx="1465883" cy="1468553"/>
          </a:xfrm>
          <a:custGeom>
            <a:avLst/>
            <a:gdLst/>
            <a:ahLst/>
            <a:cxnLst/>
            <a:rect r="r" b="b" t="t" l="l"/>
            <a:pathLst>
              <a:path h="1468553" w="1465883">
                <a:moveTo>
                  <a:pt x="0" y="0"/>
                </a:moveTo>
                <a:lnTo>
                  <a:pt x="1465883" y="0"/>
                </a:lnTo>
                <a:lnTo>
                  <a:pt x="1465883" y="1468553"/>
                </a:lnTo>
                <a:lnTo>
                  <a:pt x="0" y="14685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13140" y="697293"/>
            <a:ext cx="9228490" cy="1034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b="true" sz="9271" spc="-927">
                <a:solidFill>
                  <a:srgbClr val="F1F1F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Costo  del  proyecto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507891" y="-1267063"/>
            <a:ext cx="5480359" cy="4229632"/>
            <a:chOff x="0" y="0"/>
            <a:chExt cx="905432" cy="6987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91" y="0"/>
                  </a:moveTo>
                  <a:lnTo>
                    <a:pt x="872941" y="0"/>
                  </a:lnTo>
                  <a:cubicBezTo>
                    <a:pt x="881558" y="0"/>
                    <a:pt x="889823" y="3423"/>
                    <a:pt x="895916" y="9516"/>
                  </a:cubicBezTo>
                  <a:cubicBezTo>
                    <a:pt x="902009" y="15610"/>
                    <a:pt x="905432" y="23874"/>
                    <a:pt x="905432" y="32491"/>
                  </a:cubicBezTo>
                  <a:lnTo>
                    <a:pt x="905432" y="666303"/>
                  </a:lnTo>
                  <a:cubicBezTo>
                    <a:pt x="905432" y="684248"/>
                    <a:pt x="890886" y="698795"/>
                    <a:pt x="872941" y="698795"/>
                  </a:cubicBezTo>
                  <a:lnTo>
                    <a:pt x="32491" y="698795"/>
                  </a:lnTo>
                  <a:cubicBezTo>
                    <a:pt x="14547" y="698795"/>
                    <a:pt x="0" y="684248"/>
                    <a:pt x="0" y="666303"/>
                  </a:cubicBezTo>
                  <a:lnTo>
                    <a:pt x="0" y="32491"/>
                  </a:lnTo>
                  <a:cubicBezTo>
                    <a:pt x="0" y="23874"/>
                    <a:pt x="3423" y="15610"/>
                    <a:pt x="9516" y="9516"/>
                  </a:cubicBezTo>
                  <a:cubicBezTo>
                    <a:pt x="15610" y="3423"/>
                    <a:pt x="23874" y="0"/>
                    <a:pt x="32491" y="0"/>
                  </a:cubicBezTo>
                  <a:close/>
                </a:path>
              </a:pathLst>
            </a:custGeom>
            <a:blipFill>
              <a:blip r:embed="rId6"/>
              <a:stretch>
                <a:fillRect l="-17658" t="0" r="-17658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2026607"/>
            <a:ext cx="18979434" cy="7117288"/>
          </a:xfrm>
          <a:custGeom>
            <a:avLst/>
            <a:gdLst/>
            <a:ahLst/>
            <a:cxnLst/>
            <a:rect r="r" b="b" t="t" l="l"/>
            <a:pathLst>
              <a:path h="7117288" w="18979434">
                <a:moveTo>
                  <a:pt x="0" y="0"/>
                </a:moveTo>
                <a:lnTo>
                  <a:pt x="18979434" y="0"/>
                </a:lnTo>
                <a:lnTo>
                  <a:pt x="18979434" y="7117288"/>
                </a:lnTo>
                <a:lnTo>
                  <a:pt x="0" y="71172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65790" y="283997"/>
            <a:ext cx="7959066" cy="8450746"/>
          </a:xfrm>
          <a:custGeom>
            <a:avLst/>
            <a:gdLst/>
            <a:ahLst/>
            <a:cxnLst/>
            <a:rect r="r" b="b" t="t" l="l"/>
            <a:pathLst>
              <a:path h="8450746" w="7959066">
                <a:moveTo>
                  <a:pt x="0" y="0"/>
                </a:moveTo>
                <a:lnTo>
                  <a:pt x="7959066" y="0"/>
                </a:lnTo>
                <a:lnTo>
                  <a:pt x="7959066" y="8450746"/>
                </a:lnTo>
                <a:lnTo>
                  <a:pt x="0" y="8450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14023" y="5732347"/>
            <a:ext cx="1465883" cy="1468553"/>
          </a:xfrm>
          <a:custGeom>
            <a:avLst/>
            <a:gdLst/>
            <a:ahLst/>
            <a:cxnLst/>
            <a:rect r="r" b="b" t="t" l="l"/>
            <a:pathLst>
              <a:path h="1468553" w="1465883">
                <a:moveTo>
                  <a:pt x="0" y="0"/>
                </a:moveTo>
                <a:lnTo>
                  <a:pt x="1465883" y="0"/>
                </a:lnTo>
                <a:lnTo>
                  <a:pt x="1465883" y="1468553"/>
                </a:lnTo>
                <a:lnTo>
                  <a:pt x="0" y="14685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27756" y="3499906"/>
            <a:ext cx="11619208" cy="6626992"/>
          </a:xfrm>
          <a:custGeom>
            <a:avLst/>
            <a:gdLst/>
            <a:ahLst/>
            <a:cxnLst/>
            <a:rect r="r" b="b" t="t" l="l"/>
            <a:pathLst>
              <a:path h="6626992" w="11619208">
                <a:moveTo>
                  <a:pt x="0" y="0"/>
                </a:moveTo>
                <a:lnTo>
                  <a:pt x="11619209" y="0"/>
                </a:lnTo>
                <a:lnTo>
                  <a:pt x="11619209" y="6626991"/>
                </a:lnTo>
                <a:lnTo>
                  <a:pt x="0" y="66269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39503" y="3565558"/>
            <a:ext cx="9274520" cy="2335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18"/>
              </a:lnSpc>
            </a:pPr>
            <a:r>
              <a:rPr lang="en-US" b="true" sz="11193" spc="-1119">
                <a:solidFill>
                  <a:srgbClr val="F1F1F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Presentación del proyecto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303732"/>
            <a:ext cx="3382072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1F1F1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Capstone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65790" y="283997"/>
            <a:ext cx="7959066" cy="8450746"/>
          </a:xfrm>
          <a:custGeom>
            <a:avLst/>
            <a:gdLst/>
            <a:ahLst/>
            <a:cxnLst/>
            <a:rect r="r" b="b" t="t" l="l"/>
            <a:pathLst>
              <a:path h="8450746" w="7959066">
                <a:moveTo>
                  <a:pt x="0" y="0"/>
                </a:moveTo>
                <a:lnTo>
                  <a:pt x="7959066" y="0"/>
                </a:lnTo>
                <a:lnTo>
                  <a:pt x="7959066" y="8450746"/>
                </a:lnTo>
                <a:lnTo>
                  <a:pt x="0" y="8450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14023" y="5732347"/>
            <a:ext cx="1465883" cy="1468553"/>
          </a:xfrm>
          <a:custGeom>
            <a:avLst/>
            <a:gdLst/>
            <a:ahLst/>
            <a:cxnLst/>
            <a:rect r="r" b="b" t="t" l="l"/>
            <a:pathLst>
              <a:path h="1468553" w="1465883">
                <a:moveTo>
                  <a:pt x="0" y="0"/>
                </a:moveTo>
                <a:lnTo>
                  <a:pt x="1465883" y="0"/>
                </a:lnTo>
                <a:lnTo>
                  <a:pt x="1465883" y="1468553"/>
                </a:lnTo>
                <a:lnTo>
                  <a:pt x="0" y="14685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27756" y="3303231"/>
            <a:ext cx="11619208" cy="6626992"/>
          </a:xfrm>
          <a:custGeom>
            <a:avLst/>
            <a:gdLst/>
            <a:ahLst/>
            <a:cxnLst/>
            <a:rect r="r" b="b" t="t" l="l"/>
            <a:pathLst>
              <a:path h="6626992" w="11619208">
                <a:moveTo>
                  <a:pt x="0" y="0"/>
                </a:moveTo>
                <a:lnTo>
                  <a:pt x="11619209" y="0"/>
                </a:lnTo>
                <a:lnTo>
                  <a:pt x="11619209" y="6626992"/>
                </a:lnTo>
                <a:lnTo>
                  <a:pt x="0" y="66269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39503" y="3565558"/>
            <a:ext cx="9274520" cy="1249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18"/>
              </a:lnSpc>
            </a:pPr>
            <a:r>
              <a:rPr lang="en-US" b="true" sz="11193" spc="-1119">
                <a:solidFill>
                  <a:srgbClr val="F1F1F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Futuras mejoras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303732"/>
            <a:ext cx="3382072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1F1F1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Capstone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65790" y="283997"/>
            <a:ext cx="7959066" cy="8450746"/>
          </a:xfrm>
          <a:custGeom>
            <a:avLst/>
            <a:gdLst/>
            <a:ahLst/>
            <a:cxnLst/>
            <a:rect r="r" b="b" t="t" l="l"/>
            <a:pathLst>
              <a:path h="8450746" w="7959066">
                <a:moveTo>
                  <a:pt x="0" y="0"/>
                </a:moveTo>
                <a:lnTo>
                  <a:pt x="7959066" y="0"/>
                </a:lnTo>
                <a:lnTo>
                  <a:pt x="7959066" y="8450746"/>
                </a:lnTo>
                <a:lnTo>
                  <a:pt x="0" y="8450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14023" y="5732347"/>
            <a:ext cx="1465883" cy="1468553"/>
          </a:xfrm>
          <a:custGeom>
            <a:avLst/>
            <a:gdLst/>
            <a:ahLst/>
            <a:cxnLst/>
            <a:rect r="r" b="b" t="t" l="l"/>
            <a:pathLst>
              <a:path h="1468553" w="1465883">
                <a:moveTo>
                  <a:pt x="0" y="0"/>
                </a:moveTo>
                <a:lnTo>
                  <a:pt x="1465883" y="0"/>
                </a:lnTo>
                <a:lnTo>
                  <a:pt x="1465883" y="1468553"/>
                </a:lnTo>
                <a:lnTo>
                  <a:pt x="0" y="14685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27756" y="3499906"/>
            <a:ext cx="11619208" cy="6626992"/>
          </a:xfrm>
          <a:custGeom>
            <a:avLst/>
            <a:gdLst/>
            <a:ahLst/>
            <a:cxnLst/>
            <a:rect r="r" b="b" t="t" l="l"/>
            <a:pathLst>
              <a:path h="6626992" w="11619208">
                <a:moveTo>
                  <a:pt x="0" y="0"/>
                </a:moveTo>
                <a:lnTo>
                  <a:pt x="11619209" y="0"/>
                </a:lnTo>
                <a:lnTo>
                  <a:pt x="11619209" y="6626991"/>
                </a:lnTo>
                <a:lnTo>
                  <a:pt x="0" y="66269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30770" y="3614251"/>
            <a:ext cx="9274520" cy="1258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18"/>
              </a:lnSpc>
            </a:pPr>
            <a:r>
              <a:rPr lang="en-US" sz="11193" spc="-1119" b="true">
                <a:solidFill>
                  <a:srgbClr val="F1F1F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Muchas Gracias!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303732"/>
            <a:ext cx="3382072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1F1F1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DAG4-HIRj1w</dc:identifier>
  <dcterms:modified xsi:type="dcterms:W3CDTF">2011-08-01T06:04:30Z</dcterms:modified>
  <cp:revision>1</cp:revision>
  <dc:title>Gray Blue and Black Modern Business Presentation</dc:title>
</cp:coreProperties>
</file>